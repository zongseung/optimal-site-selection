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7"/>
    <p:restoredTop sz="94610"/>
  </p:normalViewPr>
  <p:slideViewPr>
    <p:cSldViewPr snapToGrid="0" snapToObjects="1">
      <p:cViewPr>
        <p:scale>
          <a:sx n="55" d="100"/>
          <a:sy n="55" d="100"/>
        </p:scale>
        <p:origin x="760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512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기상·공간정보 기반 전력설비 인근 산불위험 분석. 강원권 138만 전주의 점검 우선순위화 연구입니다.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정의, 데이터, 모델, 검증과 활용 순서로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전주는 법적으로 입증된 발화원입니다. 고성 산불 배상 판결, 양간지풍, 봄철 집중이 근거이고, 기존 연구는 전력설비를 발화원으로 다루지 않았습니다. 그래서 전주 단위 우선순위화가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기상·공간·발화이력 세 데이터를 전주 단위로 통합했습니다. 발화 라벨은 학습이 아닌 검증·임계값 기준으로만 사용해 정보 누수를 방지했습니다.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EDA의 핵심 발견: 강원도는 하나의 위험체제가 아닙니다. 영동은 기상, 회랑은 풍하노출, 영서·산악은 인적 발화성향이 지배합니다.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위험을 발화성향 I, 풍하노출 S, 기상위험 W로 분해하고, 권역별 MoE로 결합해 권역 내 순위와 불확실성까지 산출합니다.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요인을 하나의 위험도로 결합했습니다. 부트스트랩 결과 송전선 거리 단독효과는 불안정 — 그래서 결합 구조가 필요합니다. 75초.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공간 누수와 과도한 해석을 통제했습니다. 10km 공간 블록 CV, 발화 라벨의 제한적 사용, 부트스트랩, BYM2, conformal.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위험도만이 아니라 얼마나 믿을 수 있는지도 제공합니다. Conformal 실측 커버리지 0.89로 명목 90%에 근접, Bayesian 1.00은 보수적 구간. 운영 매트릭스로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 27,757본, 전체의 2%. 권역별 발화 앵커 밀도에 비례해 예산을 배분해 영서·산악의 권역 내 고위험 전주도 포함했습니다.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권역 내 AUC 0.488에서 0.560으로 개선. 2019 고성·속초 사례에서 동측 확산 비율 0.99로 실제 확산 방향과 정합. top 2%에서 랜덤 대비 1.6배.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정적 위험지도를 일별 점검체계로 확장할 수 있습니다. 이 모형은 산불 위치를 단정하는 모델이 아니라 어디를 먼저 확인할지 제시하는 의사결정 지원모형입니다.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감사합니다. 질의응답으로 이어갑니다.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ongseung/Optimal-Site-Selection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DBE8FE">
                  <a:alpha val="100000"/>
                </a:srgbClr>
              </a:gs>
              <a:gs pos="60000">
                <a:srgbClr val="DBE8FE">
                  <a:alpha val="0"/>
                </a:srgbClr>
              </a:gs>
            </a:gsLst>
            <a:path path="circle">
              <a:fillToRect l="85000" t="10000" r="15000" b="90000"/>
            </a:path>
          </a:gra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1333500" y="2595190"/>
            <a:ext cx="419100" cy="57150"/>
          </a:xfrm>
          <a:prstGeom prst="roundRect">
            <a:avLst>
              <a:gd name="adj" fmla="val 50000"/>
            </a:avLst>
          </a:prstGeom>
          <a:solidFill>
            <a:srgbClr val="1C60E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885950" y="2478509"/>
            <a:ext cx="274584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공모전 본선 발표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333500" y="3188122"/>
            <a:ext cx="13735050" cy="194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6426"/>
              </a:lnSpc>
              <a:buNone/>
            </a:pPr>
            <a:r>
              <a:rPr lang="en-US" sz="61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기상·공간정보 기반 전력설비 인근 산불위험 분석</a:t>
            </a:r>
            <a:endParaRPr lang="en-US" sz="6150" dirty="0"/>
          </a:p>
        </p:txBody>
      </p:sp>
      <p:sp>
        <p:nvSpPr>
          <p:cNvPr id="6" name="Text 4"/>
          <p:cNvSpPr/>
          <p:nvPr/>
        </p:nvSpPr>
        <p:spPr>
          <a:xfrm>
            <a:off x="1333500" y="5360566"/>
            <a:ext cx="171831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강원권 전주 1,387,831본의 점검 우선순위화 — MOSAIC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804988" y="6708353"/>
            <a:ext cx="14400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참가번호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04988" y="7032203"/>
            <a:ext cx="1440083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26031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4285729" y="6708353"/>
            <a:ext cx="1595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85728" y="7032203"/>
            <a:ext cx="192159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기승천외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7340559" y="9753600"/>
            <a:ext cx="647895" cy="241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13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DBE8FE">
                  <a:alpha val="100000"/>
                </a:srgbClr>
              </a:gs>
              <a:gs pos="55000">
                <a:srgbClr val="DBE8FE">
                  <a:alpha val="0"/>
                </a:srgbClr>
              </a:gs>
            </a:gsLst>
            <a:path path="circle">
              <a:fillToRect l="90000" t="100000" r="10000"/>
            </a:path>
          </a:gra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1047750" y="857251"/>
            <a:ext cx="796816" cy="25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950" b="1" kern="0" spc="98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319213"/>
            <a:ext cx="1781175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→ 데이터 → 모델 → 검증·활용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7311985" y="9753600"/>
            <a:ext cx="6331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3588544"/>
            <a:ext cx="16192500" cy="1004887"/>
          </a:xfrm>
          <a:prstGeom prst="roundRect">
            <a:avLst>
              <a:gd name="adj" fmla="val 15166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443038" y="3936206"/>
            <a:ext cx="15716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176588" y="3921919"/>
            <a:ext cx="23050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ko-KR" altLang="en-US" sz="22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프로젝트의 필요성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576888" y="3945731"/>
            <a:ext cx="1128434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전주는 입증된 발화원 · 기존 연구의 빈 조각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6140187" y="3869531"/>
            <a:ext cx="704776" cy="442913"/>
          </a:xfrm>
          <a:prstGeom prst="roundRect">
            <a:avLst>
              <a:gd name="adj" fmla="val 21505"/>
            </a:avLst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6349737" y="3945731"/>
            <a:ext cx="361876" cy="3286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7750" y="4802981"/>
            <a:ext cx="16192500" cy="1004887"/>
          </a:xfrm>
          <a:prstGeom prst="roundRect">
            <a:avLst>
              <a:gd name="adj" fmla="val 15166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443038" y="5150644"/>
            <a:ext cx="15716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176588" y="5136356"/>
            <a:ext cx="23050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5576888" y="5160169"/>
            <a:ext cx="1061894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데이터 구성 · 권역별 핵심 발견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5535275" y="5083969"/>
            <a:ext cx="1309688" cy="442913"/>
          </a:xfrm>
          <a:prstGeom prst="roundRect">
            <a:avLst>
              <a:gd name="adj" fmla="val 21505"/>
            </a:avLst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5744825" y="5160169"/>
            <a:ext cx="966788" cy="3286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– 03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47750" y="6017419"/>
            <a:ext cx="16192500" cy="1004887"/>
          </a:xfrm>
          <a:prstGeom prst="roundRect">
            <a:avLst>
              <a:gd name="adj" fmla="val 15166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1443038" y="6365081"/>
            <a:ext cx="15716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176588" y="6350794"/>
            <a:ext cx="23050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5576888" y="6374606"/>
            <a:ext cx="1060797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위험의 I × S × W 분해 · 발화 MoE · 풍하 확산 · 기상 블렌드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5525304" y="6298406"/>
            <a:ext cx="1319659" cy="442913"/>
          </a:xfrm>
          <a:prstGeom prst="roundRect">
            <a:avLst>
              <a:gd name="adj" fmla="val 21505"/>
            </a:avLst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5734854" y="6374606"/>
            <a:ext cx="976759" cy="3286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– 05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047750" y="7231856"/>
            <a:ext cx="16192500" cy="1004887"/>
          </a:xfrm>
          <a:prstGeom prst="roundRect">
            <a:avLst>
              <a:gd name="adj" fmla="val 15166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443038" y="7579519"/>
            <a:ext cx="15716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3176588" y="7565231"/>
            <a:ext cx="23050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· 활용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5576888" y="7589044"/>
            <a:ext cx="1064538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설계 · 불확실성 · 최종 위험지도 · 운영 활용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5559311" y="7512844"/>
            <a:ext cx="1285652" cy="442913"/>
          </a:xfrm>
          <a:prstGeom prst="roundRect">
            <a:avLst>
              <a:gd name="adj" fmla="val 21505"/>
            </a:avLst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15768861" y="7589044"/>
            <a:ext cx="942752" cy="3286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– 10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55000">
                <a:srgbClr val="FFFFFF">
                  <a:alpha val="100000"/>
                </a:srgbClr>
              </a:gs>
              <a:gs pos="100000">
                <a:srgbClr val="DBE8FE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1047750" y="762000"/>
            <a:ext cx="39409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537097" y="785814"/>
            <a:ext cx="23254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98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프로젝트의 필요성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1243013"/>
            <a:ext cx="1781175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전주는 법적으로 입증된 산불 발화원입니다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7305958" y="9753600"/>
            <a:ext cx="6391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2128838"/>
            <a:ext cx="5245075" cy="209073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366838" y="2390775"/>
            <a:ext cx="5067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고성–속초 산불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66838" y="2695575"/>
            <a:ext cx="5067590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87억 원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66838" y="3271838"/>
            <a:ext cx="474510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전주 개폐기·전선 아크 + 강풍이 발화원으로 인정 — 배상 판결 · 산림 1,260ha 소실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21425" y="2128838"/>
            <a:ext cx="5245075" cy="209073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6840513" y="2390775"/>
            <a:ext cx="5067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양간지풍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40513" y="2695575"/>
            <a:ext cx="5067590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27.6 m/s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840513" y="3271838"/>
            <a:ext cx="474510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태백 협곡을 지나며 가속·건조되는 강원 특이풍 — 대형 산불의 결정적 확산 기작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995100" y="2128838"/>
            <a:ext cx="5245150" cy="209073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2314188" y="2390775"/>
            <a:ext cx="50676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산불조심기간 2–5월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14188" y="2695575"/>
            <a:ext cx="5067672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314188" y="3271838"/>
            <a:ext cx="474518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피해면적이 봄철에 집중 — 감시 대상·계절·확산 기작이 뚜렷한 문제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47750" y="5819775"/>
            <a:ext cx="178117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문헌연구 — 기존 접근은 한 조각씩 비어 있습니다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047750" y="6272213"/>
            <a:ext cx="3919537" cy="1404938"/>
          </a:xfrm>
          <a:prstGeom prst="roundRect">
            <a:avLst>
              <a:gd name="adj" fmla="val 9492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276350" y="6462713"/>
            <a:ext cx="380857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순수 기상지수 (FWI·ERC)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276350" y="6800850"/>
            <a:ext cx="356620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설비·인간 발화를 담지 못해 하이브리드 대비 성능 열세 </a:t>
            </a: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Li (2024)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138738" y="6272213"/>
            <a:ext cx="3919537" cy="1404938"/>
          </a:xfrm>
          <a:prstGeom prst="roundRect">
            <a:avLst>
              <a:gd name="adj" fmla="val 9492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5367338" y="6462713"/>
            <a:ext cx="380857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발화 '위치'만 기록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5367338" y="6800850"/>
            <a:ext cx="356620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presence-only — 절대 확률 불가, 상대 순위만 산출 </a:t>
            </a: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Phillips (2006)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229725" y="6272213"/>
            <a:ext cx="3919537" cy="1404938"/>
          </a:xfrm>
          <a:prstGeom prst="roundRect">
            <a:avLst>
              <a:gd name="adj" fmla="val 9492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9458325" y="6462713"/>
            <a:ext cx="380857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지역 단일 모델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9458325" y="6800850"/>
            <a:ext cx="356620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권역별 다른 발화 메커니즘이 평균에 묻힘 </a:t>
            </a: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공간 비정상성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320713" y="6272213"/>
            <a:ext cx="3919537" cy="1404938"/>
          </a:xfrm>
          <a:prstGeom prst="roundRect">
            <a:avLst>
              <a:gd name="adj" fmla="val 9492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3549313" y="6462713"/>
            <a:ext cx="380857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무작위 분할 검증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3549313" y="6800850"/>
            <a:ext cx="356620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 자기상관으로 성능 부풀림, 공간검증 시 붕괴 </a:t>
            </a: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Ploton (2020)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47750" y="7848600"/>
            <a:ext cx="178117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강원 산불 ML의 최고 AUC 0.839 (Lee 2025)조차 전력설비를 발화원으로 모델하지 않았습니다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524"/>
            <a:ext cx="18288000" cy="10287000"/>
          </a:xfrm>
          <a:prstGeom prst="rect">
            <a:avLst/>
          </a:prstGeom>
          <a:gradFill rotWithShape="1">
            <a:gsLst>
              <a:gs pos="0">
                <a:srgbClr val="DBE8FE">
                  <a:alpha val="100000"/>
                </a:srgbClr>
              </a:gs>
              <a:gs pos="55000">
                <a:srgbClr val="DBE8FE">
                  <a:alpha val="0"/>
                </a:srgbClr>
              </a:gs>
            </a:gsLst>
            <a:path path="circle">
              <a:fillToRect l="10000" r="90000" b="100000"/>
            </a:path>
          </a:gra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1047750" y="857250"/>
            <a:ext cx="39409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537097" y="881063"/>
            <a:ext cx="1552944" cy="32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98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데이터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1357313"/>
            <a:ext cx="1781175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종류의 데이터를 전주 단위로 통합했습니다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17302311" y="9753600"/>
            <a:ext cx="6427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2376488"/>
            <a:ext cx="5232350" cy="5524500"/>
          </a:xfrm>
          <a:prstGeom prst="roundRect">
            <a:avLst>
              <a:gd name="adj" fmla="val 3277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404938" y="2736056"/>
            <a:ext cx="81818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기상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4032173" y="2714625"/>
            <a:ext cx="1890740" cy="381000"/>
          </a:xfrm>
          <a:prstGeom prst="roundRect">
            <a:avLst>
              <a:gd name="adj" fmla="val 20000"/>
            </a:avLst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4109518" y="2771775"/>
            <a:ext cx="1737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기상위험 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04938" y="3267075"/>
            <a:ext cx="465351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7931"/>
              </a:lnSpc>
              <a:buNone/>
            </a:pPr>
            <a:r>
              <a:rPr lang="en-US" sz="1875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일별 산불기상지수 — FFMC · DMC · DC · ISI · BUI · FWI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404938" y="4200525"/>
            <a:ext cx="465351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931"/>
              </a:lnSpc>
              <a:buNone/>
            </a:pPr>
            <a:r>
              <a:rPr lang="en-US" sz="1875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양간지풍 일수 · 풍속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404938" y="4752975"/>
            <a:ext cx="4517975" cy="14288"/>
          </a:xfrm>
          <a:prstGeom prst="rect">
            <a:avLst/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1404938" y="4919663"/>
            <a:ext cx="4653515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관측소 109개 (방재 94 + 종관 15) 산불조심기간(2–5월) 시즌 통계로 집계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27750" y="2376488"/>
            <a:ext cx="5232425" cy="5524500"/>
          </a:xfrm>
          <a:prstGeom prst="roundRect">
            <a:avLst>
              <a:gd name="adj" fmla="val 3277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6884938" y="2736056"/>
            <a:ext cx="918419" cy="340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232405" y="2714625"/>
            <a:ext cx="2170583" cy="381000"/>
          </a:xfrm>
          <a:prstGeom prst="roundRect">
            <a:avLst>
              <a:gd name="adj" fmla="val 20000"/>
            </a:avLst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283601" y="2771775"/>
            <a:ext cx="20431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취약도·노출 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84938" y="3267075"/>
            <a:ext cx="465359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931"/>
              </a:lnSpc>
              <a:buNone/>
            </a:pPr>
            <a:r>
              <a:rPr lang="en-US" sz="1875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지형 — 고도 · 경사 · 사면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6884938" y="3819525"/>
            <a:ext cx="465359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931"/>
              </a:lnSpc>
              <a:buNone/>
            </a:pPr>
            <a:r>
              <a:rPr lang="en-US" sz="1875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토지피복 · 식생 (NDVI · NBR · NDMI)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6884938" y="4371975"/>
            <a:ext cx="4518050" cy="14288"/>
          </a:xfrm>
          <a:prstGeom prst="rect">
            <a:avLst/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6884938" y="4538663"/>
            <a:ext cx="4653591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도로 · 송전선 · 변전소 거리 강원권 평면좌표(km)로 통일 산출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007825" y="2376488"/>
            <a:ext cx="5232350" cy="5524500"/>
          </a:xfrm>
          <a:prstGeom prst="roundRect">
            <a:avLst>
              <a:gd name="adj" fmla="val 3277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12365013" y="2736055"/>
            <a:ext cx="2099742" cy="397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발화이력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5324083" y="2714625"/>
            <a:ext cx="1558905" cy="381000"/>
          </a:xfrm>
          <a:prstGeom prst="roundRect">
            <a:avLst>
              <a:gd name="adj" fmla="val 20000"/>
            </a:avLst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5520913" y="2771775"/>
            <a:ext cx="12858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PU 양성 P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65013" y="3267075"/>
            <a:ext cx="465351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7931"/>
              </a:lnSpc>
              <a:buNone/>
            </a:pPr>
            <a:r>
              <a:rPr lang="en-US" sz="1875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산림청 산불발생대장(FFAS) — 발화점 좌표 · 발생시각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2365013" y="4200525"/>
            <a:ext cx="465351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7931"/>
              </a:lnSpc>
              <a:buNone/>
            </a:pPr>
            <a:r>
              <a:rPr lang="en-US" sz="1875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반경 1km 이내 전주에 귀속 → 검증 앵커 약 700건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2365013" y="5133975"/>
            <a:ext cx="4517975" cy="14288"/>
          </a:xfrm>
          <a:prstGeom prst="rect">
            <a:avLst/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2365013" y="5300663"/>
            <a:ext cx="4653515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라벨은 학습이 아닌 검증·임계값 기준으로만 사용 — 정보 누수 방지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47750" y="8243888"/>
            <a:ext cx="16192500" cy="1185863"/>
          </a:xfrm>
          <a:prstGeom prst="roundRect">
            <a:avLst>
              <a:gd name="adj" fmla="val 12851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1172051" y="8491538"/>
            <a:ext cx="5647373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1,387,831본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1172051" y="8915400"/>
            <a:ext cx="56473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강원권 전주 단위 통합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562725" y="8532019"/>
            <a:ext cx="14288" cy="609600"/>
          </a:xfrm>
          <a:prstGeom prst="rect">
            <a:avLst/>
          </a:prstGeom>
          <a:solidFill>
            <a:srgbClr val="C9DB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6320314" y="8491538"/>
            <a:ext cx="5647373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4.8km / 7.7%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6320314" y="8915400"/>
            <a:ext cx="56473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최근접 관측소 중앙값 / 10km 초과 비율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710988" y="8532019"/>
            <a:ext cx="14288" cy="609600"/>
          </a:xfrm>
          <a:prstGeom prst="rect">
            <a:avLst/>
          </a:prstGeom>
          <a:solidFill>
            <a:srgbClr val="C9DB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1468576" y="8491538"/>
            <a:ext cx="5647373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10km 블록</a:t>
            </a:r>
            <a:endParaRPr lang="en-US" sz="2700" dirty="0"/>
          </a:p>
        </p:txBody>
      </p:sp>
      <p:sp>
        <p:nvSpPr>
          <p:cNvPr id="39" name="Text 37"/>
          <p:cNvSpPr/>
          <p:nvPr/>
        </p:nvSpPr>
        <p:spPr>
          <a:xfrm>
            <a:off x="11468576" y="8915400"/>
            <a:ext cx="56473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 블록 교차검증 폴드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50000">
                <a:srgbClr val="FFFFFF">
                  <a:alpha val="100000"/>
                </a:srgbClr>
              </a:gs>
              <a:gs pos="100000">
                <a:srgbClr val="DBE8FE">
                  <a:alpha val="100000"/>
                </a:srgbClr>
              </a:gs>
            </a:gsLst>
            <a:lin ang="6600000" scaled="0"/>
          </a:gra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1047750" y="857250"/>
            <a:ext cx="39409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537097" y="881063"/>
            <a:ext cx="32556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98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탐색적 분석의 핵심 발견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1357313"/>
            <a:ext cx="1781175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권역마다 발화를 지배하는 요인이 달랐습니다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17307297" y="9753600"/>
            <a:ext cx="6378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2931542"/>
            <a:ext cx="8375749" cy="5924029"/>
          </a:xfrm>
          <a:prstGeom prst="roundRect">
            <a:avLst>
              <a:gd name="adj" fmla="val 2894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588" y="3155379"/>
            <a:ext cx="7928074" cy="547635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956899" y="2855119"/>
            <a:ext cx="7283276" cy="102870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Shape 7"/>
          <p:cNvSpPr/>
          <p:nvPr/>
        </p:nvSpPr>
        <p:spPr>
          <a:xfrm>
            <a:off x="9956899" y="3869531"/>
            <a:ext cx="7283276" cy="14288"/>
          </a:xfrm>
          <a:prstGeom prst="rect">
            <a:avLst/>
          </a:prstGeom>
          <a:solidFill>
            <a:srgbClr val="C9DB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Shape 8"/>
          <p:cNvSpPr/>
          <p:nvPr/>
        </p:nvSpPr>
        <p:spPr>
          <a:xfrm>
            <a:off x="9956899" y="2855119"/>
            <a:ext cx="7283276" cy="14288"/>
          </a:xfrm>
          <a:prstGeom prst="rect">
            <a:avLst/>
          </a:prstGeom>
          <a:solidFill>
            <a:srgbClr val="C9DB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Shape 9"/>
          <p:cNvSpPr/>
          <p:nvPr/>
        </p:nvSpPr>
        <p:spPr>
          <a:xfrm>
            <a:off x="17225888" y="2855119"/>
            <a:ext cx="14288" cy="1028700"/>
          </a:xfrm>
          <a:prstGeom prst="rect">
            <a:avLst/>
          </a:prstGeom>
          <a:solidFill>
            <a:srgbClr val="C9DB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/>
          <p:nvPr/>
        </p:nvSpPr>
        <p:spPr>
          <a:xfrm>
            <a:off x="10223599" y="3078956"/>
            <a:ext cx="1219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영동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0223599" y="3393281"/>
            <a:ext cx="1219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해안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557099" y="3228975"/>
            <a:ext cx="496543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가뭄·산불기상 우세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16261631" y="3228975"/>
            <a:ext cx="773757" cy="3190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기상 W</a:t>
            </a:r>
            <a:endParaRPr lang="en-US" sz="1875" dirty="0"/>
          </a:p>
        </p:txBody>
      </p:sp>
      <p:sp>
        <p:nvSpPr>
          <p:cNvPr id="17" name="Shape 14"/>
          <p:cNvSpPr/>
          <p:nvPr/>
        </p:nvSpPr>
        <p:spPr>
          <a:xfrm>
            <a:off x="9956899" y="4055269"/>
            <a:ext cx="7283276" cy="102870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Shape 15"/>
          <p:cNvSpPr/>
          <p:nvPr/>
        </p:nvSpPr>
        <p:spPr>
          <a:xfrm>
            <a:off x="9956899" y="5069681"/>
            <a:ext cx="7283276" cy="14288"/>
          </a:xfrm>
          <a:prstGeom prst="rect">
            <a:avLst/>
          </a:prstGeom>
          <a:solidFill>
            <a:srgbClr val="C9DB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9" name="Shape 16"/>
          <p:cNvSpPr/>
          <p:nvPr/>
        </p:nvSpPr>
        <p:spPr>
          <a:xfrm>
            <a:off x="9956899" y="4055269"/>
            <a:ext cx="7283276" cy="14288"/>
          </a:xfrm>
          <a:prstGeom prst="rect">
            <a:avLst/>
          </a:prstGeom>
          <a:solidFill>
            <a:srgbClr val="C9DB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Shape 17"/>
          <p:cNvSpPr/>
          <p:nvPr/>
        </p:nvSpPr>
        <p:spPr>
          <a:xfrm>
            <a:off x="17225888" y="4055269"/>
            <a:ext cx="14288" cy="1028700"/>
          </a:xfrm>
          <a:prstGeom prst="rect">
            <a:avLst/>
          </a:prstGeom>
          <a:solidFill>
            <a:srgbClr val="C9DB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1" name="Text 18"/>
          <p:cNvSpPr/>
          <p:nvPr/>
        </p:nvSpPr>
        <p:spPr>
          <a:xfrm>
            <a:off x="10223599" y="4279106"/>
            <a:ext cx="1219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회랑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10223599" y="4593431"/>
            <a:ext cx="1219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양양–고성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557099" y="4429125"/>
            <a:ext cx="505326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양간지풍·송전선 풍하노출</a:t>
            </a:r>
            <a:endParaRPr lang="en-US" sz="1875" dirty="0"/>
          </a:p>
        </p:txBody>
      </p:sp>
      <p:sp>
        <p:nvSpPr>
          <p:cNvPr id="24" name="Text 21"/>
          <p:cNvSpPr/>
          <p:nvPr/>
        </p:nvSpPr>
        <p:spPr>
          <a:xfrm>
            <a:off x="16341477" y="4429125"/>
            <a:ext cx="693911" cy="3190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풍하 S</a:t>
            </a:r>
            <a:endParaRPr lang="en-US" sz="1875" dirty="0"/>
          </a:p>
        </p:txBody>
      </p:sp>
      <p:sp>
        <p:nvSpPr>
          <p:cNvPr id="25" name="Shape 22"/>
          <p:cNvSpPr/>
          <p:nvPr/>
        </p:nvSpPr>
        <p:spPr>
          <a:xfrm>
            <a:off x="9956899" y="5255419"/>
            <a:ext cx="7283276" cy="102870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Shape 23"/>
          <p:cNvSpPr/>
          <p:nvPr/>
        </p:nvSpPr>
        <p:spPr>
          <a:xfrm>
            <a:off x="9956899" y="6269831"/>
            <a:ext cx="7283276" cy="14288"/>
          </a:xfrm>
          <a:prstGeom prst="rect">
            <a:avLst/>
          </a:prstGeom>
          <a:solidFill>
            <a:srgbClr val="C9DB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7" name="Shape 24"/>
          <p:cNvSpPr/>
          <p:nvPr/>
        </p:nvSpPr>
        <p:spPr>
          <a:xfrm>
            <a:off x="9956899" y="5255419"/>
            <a:ext cx="7283276" cy="14288"/>
          </a:xfrm>
          <a:prstGeom prst="rect">
            <a:avLst/>
          </a:prstGeom>
          <a:solidFill>
            <a:srgbClr val="C9DB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8" name="Shape 25"/>
          <p:cNvSpPr/>
          <p:nvPr/>
        </p:nvSpPr>
        <p:spPr>
          <a:xfrm>
            <a:off x="17225888" y="5255419"/>
            <a:ext cx="14288" cy="1028700"/>
          </a:xfrm>
          <a:prstGeom prst="rect">
            <a:avLst/>
          </a:prstGeom>
          <a:solidFill>
            <a:srgbClr val="C9DB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6"/>
          <p:cNvSpPr/>
          <p:nvPr/>
        </p:nvSpPr>
        <p:spPr>
          <a:xfrm>
            <a:off x="10223599" y="5479256"/>
            <a:ext cx="1219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영서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10223599" y="5793581"/>
            <a:ext cx="1219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내륙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1557099" y="5629275"/>
            <a:ext cx="514870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소각·입산 등 인적 발화</a:t>
            </a:r>
            <a:endParaRPr lang="en-US" sz="1875" dirty="0"/>
          </a:p>
        </p:txBody>
      </p:sp>
      <p:sp>
        <p:nvSpPr>
          <p:cNvPr id="32" name="Text 29"/>
          <p:cNvSpPr/>
          <p:nvPr/>
        </p:nvSpPr>
        <p:spPr>
          <a:xfrm>
            <a:off x="16428244" y="5629275"/>
            <a:ext cx="607144" cy="3190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발화 I</a:t>
            </a:r>
            <a:endParaRPr lang="en-US" sz="1875" dirty="0"/>
          </a:p>
        </p:txBody>
      </p:sp>
      <p:sp>
        <p:nvSpPr>
          <p:cNvPr id="33" name="Shape 30"/>
          <p:cNvSpPr/>
          <p:nvPr/>
        </p:nvSpPr>
        <p:spPr>
          <a:xfrm>
            <a:off x="9956899" y="6455569"/>
            <a:ext cx="7283276" cy="102870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4" name="Shape 31"/>
          <p:cNvSpPr/>
          <p:nvPr/>
        </p:nvSpPr>
        <p:spPr>
          <a:xfrm>
            <a:off x="9956899" y="7469981"/>
            <a:ext cx="7283276" cy="14288"/>
          </a:xfrm>
          <a:prstGeom prst="rect">
            <a:avLst/>
          </a:prstGeom>
          <a:solidFill>
            <a:srgbClr val="C9DB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5" name="Shape 32"/>
          <p:cNvSpPr/>
          <p:nvPr/>
        </p:nvSpPr>
        <p:spPr>
          <a:xfrm>
            <a:off x="9956899" y="6455569"/>
            <a:ext cx="7283276" cy="14288"/>
          </a:xfrm>
          <a:prstGeom prst="rect">
            <a:avLst/>
          </a:prstGeom>
          <a:solidFill>
            <a:srgbClr val="C9DB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6" name="Shape 33"/>
          <p:cNvSpPr/>
          <p:nvPr/>
        </p:nvSpPr>
        <p:spPr>
          <a:xfrm>
            <a:off x="17225888" y="6455569"/>
            <a:ext cx="14288" cy="1028700"/>
          </a:xfrm>
          <a:prstGeom prst="rect">
            <a:avLst/>
          </a:prstGeom>
          <a:solidFill>
            <a:srgbClr val="C9DB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7" name="Text 34"/>
          <p:cNvSpPr/>
          <p:nvPr/>
        </p:nvSpPr>
        <p:spPr>
          <a:xfrm>
            <a:off x="10223599" y="6679406"/>
            <a:ext cx="1219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산악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10223599" y="6993731"/>
            <a:ext cx="1219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고지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1557099" y="6829425"/>
            <a:ext cx="514870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연료·도로 접근성</a:t>
            </a:r>
            <a:endParaRPr lang="en-US" sz="1875" dirty="0"/>
          </a:p>
        </p:txBody>
      </p:sp>
      <p:sp>
        <p:nvSpPr>
          <p:cNvPr id="40" name="Text 37"/>
          <p:cNvSpPr/>
          <p:nvPr/>
        </p:nvSpPr>
        <p:spPr>
          <a:xfrm>
            <a:off x="16428244" y="6829425"/>
            <a:ext cx="607144" cy="3190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발화 I</a:t>
            </a:r>
            <a:endParaRPr lang="en-US" sz="1875" dirty="0"/>
          </a:p>
        </p:txBody>
      </p:sp>
      <p:sp>
        <p:nvSpPr>
          <p:cNvPr id="41" name="Shape 38"/>
          <p:cNvSpPr/>
          <p:nvPr/>
        </p:nvSpPr>
        <p:spPr>
          <a:xfrm>
            <a:off x="9956899" y="7731919"/>
            <a:ext cx="7283276" cy="1200150"/>
          </a:xfrm>
          <a:prstGeom prst="roundRect">
            <a:avLst>
              <a:gd name="adj" fmla="val 11111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2" name="Text 39"/>
          <p:cNvSpPr/>
          <p:nvPr/>
        </p:nvSpPr>
        <p:spPr>
          <a:xfrm>
            <a:off x="10242649" y="7960519"/>
            <a:ext cx="691313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권역 간 차이를 넘어, </a:t>
            </a:r>
            <a:r>
              <a:rPr lang="en-US" sz="19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권역 내부의 전주별 상대위험 </a:t>
            </a:r>
            <a:r>
              <a:rPr lang="en-US" sz="1950" b="1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까지 구분해야 합니다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DBE8FE">
                  <a:alpha val="100000"/>
                </a:srgbClr>
              </a:gs>
              <a:gs pos="55000">
                <a:srgbClr val="DBE8FE">
                  <a:alpha val="0"/>
                </a:srgbClr>
              </a:gs>
            </a:gsLst>
            <a:path path="circle">
              <a:fillToRect l="92000" t="90000" r="8000" b="10000"/>
            </a:path>
          </a:gra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1047750" y="857250"/>
            <a:ext cx="39409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537097" y="881063"/>
            <a:ext cx="394371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98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분석 </a:t>
            </a:r>
            <a:r>
              <a:rPr lang="en-US" sz="1950" b="1" kern="0" spc="98" dirty="0" err="1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프레임워크</a:t>
            </a:r>
            <a:r>
              <a:rPr lang="en-US" sz="1950" b="1" kern="0" spc="98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950" b="1" kern="0" spc="98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ko-KR" altLang="en-US" sz="1950" b="1" kern="0" spc="98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b="1" kern="0" spc="98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MOSAIC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1357313"/>
            <a:ext cx="1781175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위험을 발화·확산·기상의 세 요인으로 분해했습니다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17301046" y="9753600"/>
            <a:ext cx="6440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292626" y="2750790"/>
            <a:ext cx="7702748" cy="1185863"/>
          </a:xfrm>
          <a:prstGeom prst="roundRect">
            <a:avLst>
              <a:gd name="adj" fmla="val 16064"/>
            </a:avLst>
          </a:prstGeom>
          <a:solidFill>
            <a:srgbClr val="F2F6FE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6068913" y="3050828"/>
            <a:ext cx="1120229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050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R(p)</a:t>
            </a:r>
            <a:endParaRPr lang="en-US" sz="4050" dirty="0"/>
          </a:p>
        </p:txBody>
      </p:sp>
      <p:sp>
        <p:nvSpPr>
          <p:cNvPr id="9" name="Text 7"/>
          <p:cNvSpPr/>
          <p:nvPr/>
        </p:nvSpPr>
        <p:spPr>
          <a:xfrm>
            <a:off x="7322493" y="3136553"/>
            <a:ext cx="34572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5A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7801570" y="3050828"/>
            <a:ext cx="959793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050" i="1" dirty="0">
                <a:solidFill>
                  <a:srgbClr val="5A8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I(p)</a:t>
            </a:r>
            <a:endParaRPr lang="en-US" sz="4050" dirty="0"/>
          </a:p>
        </p:txBody>
      </p:sp>
      <p:sp>
        <p:nvSpPr>
          <p:cNvPr id="11" name="Text 9"/>
          <p:cNvSpPr/>
          <p:nvPr/>
        </p:nvSpPr>
        <p:spPr>
          <a:xfrm>
            <a:off x="8894713" y="3136553"/>
            <a:ext cx="34572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5A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373791" y="3050828"/>
            <a:ext cx="1047899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050" i="1" dirty="0">
                <a:solidFill>
                  <a:srgbClr val="2E6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S(p)</a:t>
            </a:r>
            <a:endParaRPr lang="en-US" sz="4050" dirty="0"/>
          </a:p>
        </p:txBody>
      </p:sp>
      <p:sp>
        <p:nvSpPr>
          <p:cNvPr id="13" name="Text 11"/>
          <p:cNvSpPr/>
          <p:nvPr/>
        </p:nvSpPr>
        <p:spPr>
          <a:xfrm>
            <a:off x="10555039" y="3136553"/>
            <a:ext cx="34572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5A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1034117" y="3050828"/>
            <a:ext cx="1261170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050" i="1" dirty="0">
                <a:solidFill>
                  <a:srgbClr val="0F47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W(p)</a:t>
            </a:r>
            <a:endParaRPr lang="en-US" sz="4050" dirty="0"/>
          </a:p>
        </p:txBody>
      </p:sp>
      <p:sp>
        <p:nvSpPr>
          <p:cNvPr id="15" name="Text 13"/>
          <p:cNvSpPr/>
          <p:nvPr/>
        </p:nvSpPr>
        <p:spPr>
          <a:xfrm>
            <a:off x="238125" y="4463355"/>
            <a:ext cx="178117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 err="1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시즌</a:t>
            </a:r>
            <a:r>
              <a:rPr lang="en-US" sz="1875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위험은 기하평균으로 </a:t>
            </a:r>
            <a:r>
              <a:rPr lang="en-US" sz="1875" dirty="0" err="1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집계</a:t>
            </a:r>
            <a:r>
              <a:rPr lang="en-US" sz="1875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875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ko-KR" altLang="en-US" sz="1875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75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R(p) = exp( ⟨ log h(p,t) ⟩</a:t>
            </a:r>
            <a:r>
              <a:rPr lang="en-US" sz="1562" i="1" baseline="-40000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t∈2–5월 </a:t>
            </a:r>
            <a:r>
              <a:rPr lang="en-US" sz="1875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</a:t>
            </a:r>
            <a:r>
              <a:rPr lang="en-US" sz="1875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단발 고위험일 과대평가 완화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047750" y="5466383"/>
            <a:ext cx="5232350" cy="177165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366838" y="5785470"/>
            <a:ext cx="505359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r>
              <a:rPr lang="en-US" altLang="ko-KR" sz="2025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2025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발화성향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366838" y="6180758"/>
            <a:ext cx="4732001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1875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전주 위치·토지피복·접근성 권역별 혼합전문가(MoE)로 학습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6527750" y="5466383"/>
            <a:ext cx="5232425" cy="177165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6846838" y="5747370"/>
            <a:ext cx="505367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r>
              <a:rPr lang="en-US" altLang="ko-KR" sz="2025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2025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풍하노출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6846838" y="6142658"/>
            <a:ext cx="4732077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1875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발화점·풍향·양간지풍 기반 정적 취약도 + 풍하 도달확률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2007825" y="5466383"/>
            <a:ext cx="5232350" cy="177165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2326913" y="5747370"/>
            <a:ext cx="505359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</a:t>
            </a:r>
            <a:r>
              <a:rPr lang="en-US" altLang="ko-KR" sz="2025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ko-KR" altLang="en-US" sz="2025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25" b="1" dirty="0" err="1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기상위험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12326913" y="6142658"/>
            <a:ext cx="4732001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1875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FFMC·ISI·계절정보 산불조심기간 시즌 통계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3179192" y="7898085"/>
            <a:ext cx="1928813" cy="719138"/>
          </a:xfrm>
          <a:prstGeom prst="roundRect">
            <a:avLst>
              <a:gd name="adj" fmla="val 18543"/>
            </a:avLst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3560192" y="8107635"/>
            <a:ext cx="124301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전주 </a:t>
            </a:r>
            <a:r>
              <a:rPr lang="en-US" sz="2025" b="1" dirty="0" err="1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r>
              <a:rPr lang="en-US" sz="202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5374704" y="8055248"/>
            <a:ext cx="390302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28" name="Shape 26"/>
          <p:cNvSpPr/>
          <p:nvPr/>
        </p:nvSpPr>
        <p:spPr>
          <a:xfrm>
            <a:off x="5955506" y="7898085"/>
            <a:ext cx="2428131" cy="719138"/>
          </a:xfrm>
          <a:prstGeom prst="roundRect">
            <a:avLst>
              <a:gd name="adj" fmla="val 18543"/>
            </a:avLst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6180319" y="8107635"/>
            <a:ext cx="19799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권역 내 위험순위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8650337" y="8055248"/>
            <a:ext cx="390302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31" name="Shape 29"/>
          <p:cNvSpPr/>
          <p:nvPr/>
        </p:nvSpPr>
        <p:spPr>
          <a:xfrm>
            <a:off x="9231139" y="7898085"/>
            <a:ext cx="5877669" cy="719138"/>
          </a:xfrm>
          <a:prstGeom prst="roundRect">
            <a:avLst>
              <a:gd name="adj" fmla="val 18543"/>
            </a:avLst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9454481" y="8089839"/>
            <a:ext cx="5877669" cy="390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 + 예측 불확실성 (Bayesian · Conformal)</a:t>
            </a:r>
            <a:endParaRPr lang="en-US" sz="2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DBE8FE">
                  <a:alpha val="100000"/>
                </a:srgbClr>
              </a:gs>
              <a:gs pos="45000">
                <a:srgbClr val="FFFFFF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1047750" y="762000"/>
            <a:ext cx="39409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537097" y="832308"/>
            <a:ext cx="2352978" cy="32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98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위험요인의 구현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1243013"/>
            <a:ext cx="1781175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발화성향·풍하노출·기상을 하나의 위험도로 결합했습니다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7318608" y="9753600"/>
            <a:ext cx="6264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2147888"/>
            <a:ext cx="8697144" cy="7377113"/>
          </a:xfrm>
          <a:prstGeom prst="roundRect">
            <a:avLst>
              <a:gd name="adj" fmla="val 2324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347787" y="2409825"/>
            <a:ext cx="477038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r>
              <a:rPr lang="en-US" sz="2400" b="1" dirty="0" err="1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풍하노출</a:t>
            </a:r>
            <a:r>
              <a:rPr lang="en-US" sz="24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4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24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양간지풍 확산 모형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89675" y="2471738"/>
            <a:ext cx="3030699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변별력(IQR) 0.027 → 0.166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47788" y="2914650"/>
            <a:ext cx="7464772" cy="778073"/>
          </a:xfrm>
          <a:prstGeom prst="roundRect">
            <a:avLst>
              <a:gd name="adj" fmla="val 12242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538288" y="3153668"/>
            <a:ext cx="796305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S(p) ∝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516014" y="3028950"/>
            <a:ext cx="174427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364"/>
              </a:lnSpc>
              <a:buNone/>
            </a:pPr>
            <a:r>
              <a:rPr lang="en-US" sz="1800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20317" y="3291780"/>
            <a:ext cx="289694" cy="14288"/>
          </a:xfrm>
          <a:prstGeom prst="rect">
            <a:avLst/>
          </a:prstGeom>
          <a:solidFill>
            <a:srgbClr val="0B1B3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2477467" y="3315593"/>
            <a:ext cx="204363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364"/>
              </a:lnSpc>
              <a:buNone/>
            </a:pPr>
            <a:r>
              <a:rPr lang="en-US" sz="1800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71936" y="3163193"/>
            <a:ext cx="225698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3021434" y="3187005"/>
            <a:ext cx="68379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25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i=1…N</a:t>
            </a:r>
            <a:endParaRPr lang="en-US" sz="1625" dirty="0"/>
          </a:p>
        </p:txBody>
      </p:sp>
      <p:sp>
        <p:nvSpPr>
          <p:cNvPr id="17" name="Text 15"/>
          <p:cNvSpPr/>
          <p:nvPr/>
        </p:nvSpPr>
        <p:spPr>
          <a:xfrm>
            <a:off x="3752850" y="3163193"/>
            <a:ext cx="575295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4251945" y="3187005"/>
            <a:ext cx="137592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25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625" dirty="0"/>
          </a:p>
        </p:txBody>
      </p:sp>
      <p:sp>
        <p:nvSpPr>
          <p:cNvPr id="19" name="Text 17"/>
          <p:cNvSpPr/>
          <p:nvPr/>
        </p:nvSpPr>
        <p:spPr>
          <a:xfrm>
            <a:off x="4313337" y="3163193"/>
            <a:ext cx="40511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(p)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4870847" y="3170337"/>
            <a:ext cx="41263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바람을 N번 반복 추출해 '불 노출량'을 평균</a:t>
            </a:r>
            <a:endParaRPr lang="en-US" sz="18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606972" y="3826073"/>
            <a:ext cx="7578626" cy="424070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47788" y="8200206"/>
            <a:ext cx="8339981" cy="110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285750" indent="-285750" algn="l">
              <a:lnSpc>
                <a:spcPct val="135273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송전선과의 거리만으로는 위험을 안정적으로 설명하기 어려움</a:t>
            </a:r>
            <a:endParaRPr lang="en-US" altLang="ko-KR" dirty="0"/>
          </a:p>
          <a:p>
            <a:pPr marL="285750" indent="-285750" algn="l">
              <a:lnSpc>
                <a:spcPct val="135273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발화 가능성</a:t>
            </a:r>
            <a:r>
              <a:rPr lang="en-US" altLang="ko-KR" dirty="0"/>
              <a:t>(</a:t>
            </a:r>
            <a:r>
              <a:rPr lang="en-US" dirty="0"/>
              <a:t>I)·</a:t>
            </a:r>
            <a:r>
              <a:rPr lang="ko-KR" altLang="en-US" dirty="0"/>
              <a:t>확산 위험</a:t>
            </a:r>
            <a:r>
              <a:rPr lang="en-US" altLang="ko-KR" dirty="0"/>
              <a:t>(</a:t>
            </a:r>
            <a:r>
              <a:rPr lang="en-US" dirty="0"/>
              <a:t>S)·</a:t>
            </a:r>
            <a:r>
              <a:rPr lang="ko-KR" altLang="en-US" dirty="0"/>
              <a:t>기상 영향</a:t>
            </a:r>
            <a:r>
              <a:rPr lang="en-US" altLang="ko-KR" dirty="0"/>
              <a:t>(</a:t>
            </a:r>
            <a:r>
              <a:rPr lang="en-US" dirty="0"/>
              <a:t>W)</a:t>
            </a:r>
            <a:r>
              <a:rPr lang="ko-KR" altLang="en-US" dirty="0"/>
              <a:t>을 결합한 </a:t>
            </a:r>
            <a:r>
              <a:rPr lang="en-US" b="1" dirty="0"/>
              <a:t>I×S×W</a:t>
            </a:r>
            <a:r>
              <a:rPr lang="ko-KR" altLang="en-US" dirty="0"/>
              <a:t>로 종합 위험도를 산정함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992544" y="2147888"/>
            <a:ext cx="7247632" cy="3324002"/>
          </a:xfrm>
          <a:prstGeom prst="roundRect">
            <a:avLst>
              <a:gd name="adj" fmla="val 5158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1"/>
          <p:cNvSpPr/>
          <p:nvPr/>
        </p:nvSpPr>
        <p:spPr>
          <a:xfrm>
            <a:off x="10292581" y="2390775"/>
            <a:ext cx="3693468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r>
              <a:rPr lang="en-US" sz="2250" b="1" dirty="0" err="1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발화성향</a:t>
            </a:r>
            <a:r>
              <a:rPr lang="en-US" sz="225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25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225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지역 MoE</a:t>
            </a:r>
            <a:endParaRPr lang="en-US" sz="2250" dirty="0"/>
          </a:p>
        </p:txBody>
      </p:sp>
      <p:sp>
        <p:nvSpPr>
          <p:cNvPr id="25" name="Text 22"/>
          <p:cNvSpPr/>
          <p:nvPr/>
        </p:nvSpPr>
        <p:spPr>
          <a:xfrm>
            <a:off x="15612219" y="2433638"/>
            <a:ext cx="1460711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분산기여 0.52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0292581" y="2833688"/>
            <a:ext cx="6647557" cy="1237208"/>
          </a:xfrm>
          <a:prstGeom prst="roundRect">
            <a:avLst>
              <a:gd name="adj" fmla="val 7699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7" name="Text 24"/>
          <p:cNvSpPr/>
          <p:nvPr/>
        </p:nvSpPr>
        <p:spPr>
          <a:xfrm>
            <a:off x="10483081" y="3149873"/>
            <a:ext cx="929804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I(p) = Σ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11336685" y="3173685"/>
            <a:ext cx="185142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25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625" dirty="0"/>
          </a:p>
        </p:txBody>
      </p:sp>
      <p:sp>
        <p:nvSpPr>
          <p:cNvPr id="29" name="Text 26"/>
          <p:cNvSpPr/>
          <p:nvPr/>
        </p:nvSpPr>
        <p:spPr>
          <a:xfrm>
            <a:off x="11445627" y="3149873"/>
            <a:ext cx="218108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950" dirty="0"/>
          </a:p>
        </p:txBody>
      </p:sp>
      <p:sp>
        <p:nvSpPr>
          <p:cNvPr id="30" name="Text 27"/>
          <p:cNvSpPr/>
          <p:nvPr/>
        </p:nvSpPr>
        <p:spPr>
          <a:xfrm>
            <a:off x="11587535" y="3173685"/>
            <a:ext cx="185142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25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625" dirty="0"/>
          </a:p>
        </p:txBody>
      </p:sp>
      <p:sp>
        <p:nvSpPr>
          <p:cNvPr id="31" name="Text 28"/>
          <p:cNvSpPr/>
          <p:nvPr/>
        </p:nvSpPr>
        <p:spPr>
          <a:xfrm>
            <a:off x="11696477" y="3149873"/>
            <a:ext cx="13399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(p) · Expert</a:t>
            </a:r>
            <a:endParaRPr lang="en-US" sz="1950" dirty="0"/>
          </a:p>
        </p:txBody>
      </p:sp>
      <p:sp>
        <p:nvSpPr>
          <p:cNvPr id="32" name="Text 29"/>
          <p:cNvSpPr/>
          <p:nvPr/>
        </p:nvSpPr>
        <p:spPr>
          <a:xfrm>
            <a:off x="12960176" y="3173685"/>
            <a:ext cx="185142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25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625" dirty="0"/>
          </a:p>
        </p:txBody>
      </p:sp>
      <p:sp>
        <p:nvSpPr>
          <p:cNvPr id="33" name="Text 30"/>
          <p:cNvSpPr/>
          <p:nvPr/>
        </p:nvSpPr>
        <p:spPr>
          <a:xfrm>
            <a:off x="13069119" y="3149873"/>
            <a:ext cx="737592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(p), g</a:t>
            </a:r>
            <a:endParaRPr lang="en-US" sz="1950" dirty="0"/>
          </a:p>
        </p:txBody>
      </p:sp>
      <p:sp>
        <p:nvSpPr>
          <p:cNvPr id="34" name="Text 31"/>
          <p:cNvSpPr/>
          <p:nvPr/>
        </p:nvSpPr>
        <p:spPr>
          <a:xfrm>
            <a:off x="13730511" y="3173685"/>
            <a:ext cx="185142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25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625" dirty="0"/>
          </a:p>
        </p:txBody>
      </p:sp>
      <p:sp>
        <p:nvSpPr>
          <p:cNvPr id="35" name="Text 32"/>
          <p:cNvSpPr/>
          <p:nvPr/>
        </p:nvSpPr>
        <p:spPr>
          <a:xfrm>
            <a:off x="13839453" y="3149873"/>
            <a:ext cx="235521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1950" dirty="0"/>
          </a:p>
        </p:txBody>
      </p:sp>
      <p:sp>
        <p:nvSpPr>
          <p:cNvPr id="36" name="Text 33"/>
          <p:cNvSpPr/>
          <p:nvPr/>
        </p:nvSpPr>
        <p:spPr>
          <a:xfrm>
            <a:off x="14323293" y="2947988"/>
            <a:ext cx="810176" cy="348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364"/>
              </a:lnSpc>
              <a:buNone/>
            </a:pPr>
            <a:r>
              <a:rPr lang="en-US" sz="1800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r>
              <a:rPr lang="en-US" sz="1500" i="1" baseline="30000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−d</a:t>
            </a:r>
            <a:r>
              <a:rPr lang="en-US" sz="1250" i="1" baseline="-40000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r>
              <a:rPr lang="en-US" sz="1500" i="1" baseline="30000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²/T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14160698" y="3258443"/>
            <a:ext cx="1051396" cy="14288"/>
          </a:xfrm>
          <a:prstGeom prst="rect">
            <a:avLst/>
          </a:prstGeom>
          <a:solidFill>
            <a:srgbClr val="0B1B3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8" name="Text 35"/>
          <p:cNvSpPr/>
          <p:nvPr/>
        </p:nvSpPr>
        <p:spPr>
          <a:xfrm>
            <a:off x="14217848" y="3282255"/>
            <a:ext cx="1013296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364"/>
              </a:lnSpc>
              <a:buNone/>
            </a:pPr>
            <a:r>
              <a:rPr lang="en-US" sz="1800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r>
              <a:rPr lang="en-US" sz="1500" i="1" baseline="-40000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 </a:t>
            </a:r>
            <a:r>
              <a:rPr lang="en-US" sz="1800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r>
              <a:rPr lang="en-US" sz="1500" i="1" baseline="30000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−d</a:t>
            </a:r>
            <a:r>
              <a:rPr lang="en-US" sz="1250" i="1" baseline="-40000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r>
              <a:rPr lang="en-US" sz="1500" i="1" baseline="30000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²/T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483081" y="3689896"/>
            <a:ext cx="68932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권역별 전문가의 판단을 전주 위치에 따른 가중치로 섞음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0292581" y="4286290"/>
            <a:ext cx="6846984" cy="98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285750" indent="-285750" algn="l">
              <a:lnSpc>
                <a:spcPct val="135273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권역별</a:t>
            </a:r>
            <a:r>
              <a:rPr lang="ko-KR" altLang="en-US" dirty="0"/>
              <a:t> 발화 특성을 반영해 </a:t>
            </a:r>
            <a:r>
              <a:rPr lang="en-US" altLang="ko-KR" b="1" dirty="0"/>
              <a:t>4</a:t>
            </a:r>
            <a:r>
              <a:rPr lang="ko-KR" altLang="en-US" b="1" dirty="0"/>
              <a:t>개 전문가 모델</a:t>
            </a:r>
            <a:r>
              <a:rPr lang="ko-KR" altLang="en-US" dirty="0"/>
              <a:t>을 각각 학습함</a:t>
            </a:r>
            <a:endParaRPr lang="en-US" altLang="ko-KR" dirty="0"/>
          </a:p>
          <a:p>
            <a:pPr marL="285750" indent="-285750" algn="l">
              <a:lnSpc>
                <a:spcPct val="135273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전주의 위치와 바람 조건에 따라 가까운 권역 모델의 판단을 우선 반영함</a:t>
            </a:r>
            <a:endParaRPr lang="en-US" altLang="ko-KR" dirty="0"/>
          </a:p>
          <a:p>
            <a:pPr marL="285750" indent="-285750" algn="l">
              <a:lnSpc>
                <a:spcPct val="135273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권역 경계에 위치한 전주는 인접한 양쪽 권역 모델의 판단을 함께 적용함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9992544" y="5643339"/>
            <a:ext cx="7247632" cy="2848589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39"/>
          <p:cNvSpPr/>
          <p:nvPr/>
        </p:nvSpPr>
        <p:spPr>
          <a:xfrm>
            <a:off x="10292581" y="5886227"/>
            <a:ext cx="3497111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</a:t>
            </a:r>
            <a:r>
              <a:rPr lang="en-US" sz="2250" b="1" dirty="0" err="1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기상위험</a:t>
            </a:r>
            <a:r>
              <a:rPr lang="en-US" sz="225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25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ko-KR" altLang="en-US" sz="225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5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FFMC · ISI</a:t>
            </a:r>
            <a:endParaRPr lang="en-US" sz="2250" b="1" dirty="0"/>
          </a:p>
        </p:txBody>
      </p:sp>
      <p:sp>
        <p:nvSpPr>
          <p:cNvPr id="43" name="Text 40"/>
          <p:cNvSpPr/>
          <p:nvPr/>
        </p:nvSpPr>
        <p:spPr>
          <a:xfrm>
            <a:off x="15592648" y="5929089"/>
            <a:ext cx="1482239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분산기여 0.40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10292581" y="6329139"/>
            <a:ext cx="6862129" cy="880021"/>
          </a:xfrm>
          <a:prstGeom prst="roundRect">
            <a:avLst>
              <a:gd name="adj" fmla="val 10824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5" name="Text 42"/>
          <p:cNvSpPr/>
          <p:nvPr/>
        </p:nvSpPr>
        <p:spPr>
          <a:xfrm>
            <a:off x="10613450" y="6567264"/>
            <a:ext cx="3372599" cy="689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 = α · W</a:t>
            </a:r>
            <a:r>
              <a:rPr lang="en-US" sz="1625" i="1" baseline="-40000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 </a:t>
            </a:r>
            <a:r>
              <a:rPr lang="en-US" sz="1950" i="1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(1−α) · W </a:t>
            </a:r>
            <a:r>
              <a:rPr lang="en-US" sz="1625" i="1" baseline="-40000" dirty="0">
                <a:solidFill>
                  <a:srgbClr val="0B1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</a:t>
            </a:r>
            <a:endParaRPr lang="en-US" sz="1950" dirty="0"/>
          </a:p>
        </p:txBody>
      </p:sp>
      <p:sp>
        <p:nvSpPr>
          <p:cNvPr id="46" name="Text 43"/>
          <p:cNvSpPr/>
          <p:nvPr/>
        </p:nvSpPr>
        <p:spPr>
          <a:xfrm>
            <a:off x="14217849" y="6505700"/>
            <a:ext cx="40701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시즌 </a:t>
            </a:r>
            <a:r>
              <a:rPr lang="en-US" sz="1800" dirty="0" err="1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통계와</a:t>
            </a: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800" dirty="0" err="1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일별</a:t>
            </a: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지수를 α로 혼합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0292581" y="7304410"/>
            <a:ext cx="6846984" cy="110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285750" indent="-285750" algn="l">
              <a:lnSpc>
                <a:spcPct val="135273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6</a:t>
            </a:r>
            <a:r>
              <a:rPr lang="ko-KR" altLang="en-US" dirty="0"/>
              <a:t>개 기상지수 중 실제 발화를 가장 잘 설명하는 </a:t>
            </a:r>
            <a:r>
              <a:rPr lang="en-US" b="1" dirty="0"/>
              <a:t>FFMC(</a:t>
            </a:r>
            <a:r>
              <a:rPr lang="ko-KR" altLang="en-US" b="1" dirty="0"/>
              <a:t>연료 건조도</a:t>
            </a:r>
            <a:r>
              <a:rPr lang="en-US" altLang="ko-KR" b="1" dirty="0"/>
              <a:t>)​</a:t>
            </a:r>
            <a:r>
              <a:rPr lang="ko-KR" altLang="en-US" dirty="0"/>
              <a:t>와 </a:t>
            </a:r>
            <a:r>
              <a:rPr lang="en-US" b="1" dirty="0"/>
              <a:t>ISI(</a:t>
            </a:r>
            <a:r>
              <a:rPr lang="ko-KR" altLang="en-US" b="1" dirty="0"/>
              <a:t>화재 확산 속도</a:t>
            </a:r>
            <a:r>
              <a:rPr lang="en-US" altLang="ko-KR" b="1" dirty="0"/>
              <a:t>)​</a:t>
            </a:r>
            <a:r>
              <a:rPr lang="ko-KR" altLang="en-US" dirty="0"/>
              <a:t>만 활용함</a:t>
            </a:r>
            <a:endParaRPr lang="en-US" altLang="ko-KR" dirty="0"/>
          </a:p>
          <a:p>
            <a:pPr marL="285750" indent="-285750" algn="l">
              <a:lnSpc>
                <a:spcPct val="135273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영동은 기상 조건</a:t>
            </a:r>
            <a:r>
              <a:rPr lang="en-US" altLang="ko-KR" dirty="0"/>
              <a:t>, </a:t>
            </a:r>
            <a:r>
              <a:rPr lang="ko-KR" altLang="en-US" dirty="0"/>
              <a:t>영서는 주말 등 사람의 활동이 산불 발화와 더 밀접하게 나타남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9992544" y="8609219"/>
            <a:ext cx="7247632" cy="1542008"/>
          </a:xfrm>
          <a:prstGeom prst="roundRect">
            <a:avLst>
              <a:gd name="adj" fmla="val 11119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9" name="Text 46"/>
          <p:cNvSpPr/>
          <p:nvPr/>
        </p:nvSpPr>
        <p:spPr>
          <a:xfrm>
            <a:off x="10243780" y="8752558"/>
            <a:ext cx="734374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검증(</a:t>
            </a:r>
            <a:r>
              <a:rPr lang="en-US" sz="1875" b="1" dirty="0" err="1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부트스트랩</a:t>
            </a:r>
            <a:r>
              <a:rPr lang="en-US" sz="1875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75" dirty="0"/>
          </a:p>
        </p:txBody>
      </p:sp>
      <p:sp>
        <p:nvSpPr>
          <p:cNvPr id="50" name="Text 47"/>
          <p:cNvSpPr/>
          <p:nvPr/>
        </p:nvSpPr>
        <p:spPr>
          <a:xfrm>
            <a:off x="10196514" y="9199160"/>
            <a:ext cx="6876416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'송전선과 가깝다' 한 가지만으로는 위험이 안정적으로 설명되지 않았습니다 → 한 변수가 아닌 </a:t>
            </a:r>
            <a:r>
              <a:rPr lang="en-US" sz="180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요인의 결합 I×S×W</a:t>
            </a:r>
            <a:r>
              <a:rPr lang="en-US" sz="1800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위험을 계산합니다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DBE8FE">
                  <a:alpha val="100000"/>
                </a:srgbClr>
              </a:gs>
              <a:gs pos="50000">
                <a:srgbClr val="DBE8FE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/>
          <a:lstStyle/>
          <a:p>
            <a:endParaRPr lang="en-KR" dirty="0"/>
          </a:p>
        </p:txBody>
      </p:sp>
      <p:sp>
        <p:nvSpPr>
          <p:cNvPr id="3" name="Text 1"/>
          <p:cNvSpPr/>
          <p:nvPr/>
        </p:nvSpPr>
        <p:spPr>
          <a:xfrm>
            <a:off x="1047750" y="857250"/>
            <a:ext cx="39409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537096" y="881064"/>
            <a:ext cx="14110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950" b="1" kern="0" spc="98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설계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1357313"/>
            <a:ext cx="1781175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 누수와 과도한 해석을 통제했습니다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17302311" y="9753600"/>
            <a:ext cx="6427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2395538"/>
            <a:ext cx="3055590" cy="5934075"/>
          </a:xfrm>
          <a:prstGeom prst="roundRect">
            <a:avLst>
              <a:gd name="adj" fmla="val 5611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347788" y="2714625"/>
            <a:ext cx="270106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2250" b="1" dirty="0"/>
          </a:p>
        </p:txBody>
      </p:sp>
      <p:sp>
        <p:nvSpPr>
          <p:cNvPr id="9" name="Text 7"/>
          <p:cNvSpPr/>
          <p:nvPr/>
        </p:nvSpPr>
        <p:spPr>
          <a:xfrm>
            <a:off x="1347788" y="3195638"/>
            <a:ext cx="270106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 분리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347788" y="3648075"/>
            <a:ext cx="2531715" cy="3752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ko-KR" altLang="en-US" dirty="0"/>
              <a:t>강원 전역을 </a:t>
            </a:r>
            <a:r>
              <a:rPr lang="en-US" altLang="ko-KR" dirty="0"/>
              <a:t>10</a:t>
            </a:r>
            <a:r>
              <a:rPr lang="en-US" dirty="0"/>
              <a:t>km </a:t>
            </a:r>
            <a:r>
              <a:rPr lang="ko-KR" altLang="en-US" dirty="0"/>
              <a:t>블록으로 나눠 학습</a:t>
            </a:r>
            <a:r>
              <a:rPr lang="en-US" altLang="ko-KR" dirty="0"/>
              <a:t>·</a:t>
            </a:r>
            <a:r>
              <a:rPr lang="ko-KR" altLang="en-US" dirty="0"/>
              <a:t>검증 데이터를 분리하고</a:t>
            </a:r>
            <a:r>
              <a:rPr lang="en-US" altLang="ko-KR" dirty="0"/>
              <a:t>, </a:t>
            </a:r>
            <a:r>
              <a:rPr lang="ko-KR" altLang="en-US" dirty="0"/>
              <a:t>인접 전주의 중복 유입을 방지함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47788" y="7515225"/>
            <a:ext cx="2455515" cy="495300"/>
          </a:xfrm>
          <a:prstGeom prst="roundRect">
            <a:avLst>
              <a:gd name="adj" fmla="val 19231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500188" y="7629525"/>
            <a:ext cx="22269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</a:t>
            </a:r>
            <a:r>
              <a:rPr lang="en-US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</a:t>
            </a:r>
            <a:r>
              <a:rPr lang="ko-KR" altLang="en-US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방지 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31940" y="2395538"/>
            <a:ext cx="3055590" cy="5934075"/>
          </a:xfrm>
          <a:prstGeom prst="roundRect">
            <a:avLst>
              <a:gd name="adj" fmla="val 5611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4631978" y="2714625"/>
            <a:ext cx="270106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2250" b="1" dirty="0"/>
          </a:p>
        </p:txBody>
      </p:sp>
      <p:sp>
        <p:nvSpPr>
          <p:cNvPr id="15" name="Text 13"/>
          <p:cNvSpPr/>
          <p:nvPr/>
        </p:nvSpPr>
        <p:spPr>
          <a:xfrm>
            <a:off x="4631978" y="3195638"/>
            <a:ext cx="270106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라벨 격리 학습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4631978" y="3648075"/>
            <a:ext cx="2531715" cy="3752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ko-KR" altLang="en-US" dirty="0"/>
              <a:t>발화 라벨은 학습에서 제외하고</a:t>
            </a:r>
            <a:r>
              <a:rPr lang="en-US" altLang="ko-KR" dirty="0"/>
              <a:t>, </a:t>
            </a:r>
            <a:r>
              <a:rPr lang="en-US" dirty="0"/>
              <a:t>I·S·W </a:t>
            </a:r>
            <a:r>
              <a:rPr lang="ko-KR" altLang="en-US" dirty="0"/>
              <a:t>산출 결과의 검증과 </a:t>
            </a:r>
            <a:r>
              <a:rPr lang="ko-KR" altLang="en-US" dirty="0" err="1"/>
              <a:t>임계값</a:t>
            </a:r>
            <a:r>
              <a:rPr lang="ko-KR" altLang="en-US" dirty="0"/>
              <a:t> 설정에만 활용함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31978" y="7515225"/>
            <a:ext cx="2455515" cy="495300"/>
          </a:xfrm>
          <a:prstGeom prst="roundRect">
            <a:avLst>
              <a:gd name="adj" fmla="val 19231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4784378" y="7629525"/>
            <a:ext cx="22269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</a:t>
            </a:r>
            <a:r>
              <a:rPr lang="en-US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</a:t>
            </a:r>
            <a:r>
              <a:rPr lang="ko-KR" altLang="en-US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방지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16130" y="2395538"/>
            <a:ext cx="3055665" cy="5934075"/>
          </a:xfrm>
          <a:prstGeom prst="roundRect">
            <a:avLst>
              <a:gd name="adj" fmla="val 5611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7916168" y="2714625"/>
            <a:ext cx="270114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2250" b="1" dirty="0"/>
          </a:p>
        </p:txBody>
      </p:sp>
      <p:sp>
        <p:nvSpPr>
          <p:cNvPr id="21" name="Text 19"/>
          <p:cNvSpPr/>
          <p:nvPr/>
        </p:nvSpPr>
        <p:spPr>
          <a:xfrm>
            <a:off x="7916168" y="3195638"/>
            <a:ext cx="270114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랭킹 성능 검증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7916168" y="3648075"/>
            <a:ext cx="2455590" cy="3486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just">
              <a:lnSpc>
                <a:spcPct val="135273"/>
              </a:lnSpc>
              <a:buNone/>
            </a:pPr>
            <a:r>
              <a:rPr lang="ko-KR" altLang="en-US" dirty="0"/>
              <a:t>홀드아웃 발화점으로 </a:t>
            </a:r>
            <a:r>
              <a:rPr lang="ko-KR" altLang="en-US" dirty="0" err="1"/>
              <a:t>권역별</a:t>
            </a:r>
            <a:r>
              <a:rPr lang="ko-KR" altLang="en-US" dirty="0"/>
              <a:t> </a:t>
            </a:r>
            <a:r>
              <a:rPr lang="en-US" dirty="0"/>
              <a:t>AUC</a:t>
            </a:r>
            <a:r>
              <a:rPr lang="ko-KR" altLang="en-US" dirty="0"/>
              <a:t>와 </a:t>
            </a:r>
            <a:r>
              <a:rPr lang="en-US" dirty="0" err="1"/>
              <a:t>recall@top-k</a:t>
            </a:r>
            <a:r>
              <a:rPr lang="ko-KR" altLang="en-US" dirty="0" err="1"/>
              <a:t>를</a:t>
            </a:r>
            <a:r>
              <a:rPr lang="ko-KR" altLang="en-US" dirty="0"/>
              <a:t> 평가하고</a:t>
            </a:r>
            <a:r>
              <a:rPr lang="en-US" altLang="ko-KR" dirty="0"/>
              <a:t>, </a:t>
            </a:r>
            <a:r>
              <a:rPr lang="ko-KR" altLang="en-US" dirty="0"/>
              <a:t>무작위 분할에서 발생하는 낙관 편향을 점검함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916168" y="7515225"/>
            <a:ext cx="2455590" cy="495300"/>
          </a:xfrm>
          <a:prstGeom prst="roundRect">
            <a:avLst>
              <a:gd name="adj" fmla="val 12500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8068568" y="7605198"/>
            <a:ext cx="2226990" cy="414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</a:t>
            </a:r>
            <a:r>
              <a:rPr lang="en-US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과대평가</a:t>
            </a:r>
            <a:r>
              <a:rPr lang="ko-KR" altLang="en-US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방지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900395" y="2395538"/>
            <a:ext cx="3055590" cy="5934075"/>
          </a:xfrm>
          <a:prstGeom prst="roundRect">
            <a:avLst>
              <a:gd name="adj" fmla="val 5611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1200433" y="2714625"/>
            <a:ext cx="270106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2250" b="1" dirty="0"/>
          </a:p>
        </p:txBody>
      </p:sp>
      <p:sp>
        <p:nvSpPr>
          <p:cNvPr id="27" name="Text 25"/>
          <p:cNvSpPr/>
          <p:nvPr/>
        </p:nvSpPr>
        <p:spPr>
          <a:xfrm>
            <a:off x="11200433" y="3195638"/>
            <a:ext cx="270106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 안정성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11200433" y="3648075"/>
            <a:ext cx="2531715" cy="3752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ko-KR" altLang="en-US" dirty="0"/>
              <a:t>부트스트랩으로 변수 효과와 선택 안정성을 점검하고</a:t>
            </a:r>
            <a:r>
              <a:rPr lang="en-US" altLang="ko-KR" dirty="0"/>
              <a:t>, </a:t>
            </a:r>
            <a:r>
              <a:rPr lang="ko-KR" altLang="en-US" dirty="0"/>
              <a:t>신뢰구간에 </a:t>
            </a:r>
            <a:r>
              <a:rPr lang="en-US" altLang="ko-KR" dirty="0"/>
              <a:t>0</a:t>
            </a:r>
            <a:r>
              <a:rPr lang="ko-KR" altLang="en-US" dirty="0"/>
              <a:t>이 포함된 변수는 단독 해석에서 제외함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200433" y="7515225"/>
            <a:ext cx="2455515" cy="495300"/>
          </a:xfrm>
          <a:prstGeom prst="roundRect">
            <a:avLst>
              <a:gd name="adj" fmla="val 19231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1352833" y="7629525"/>
            <a:ext cx="22269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과잉해석</a:t>
            </a:r>
            <a:r>
              <a:rPr lang="ko-KR" altLang="en-US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방지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4184585" y="2395538"/>
            <a:ext cx="3055590" cy="5934075"/>
          </a:xfrm>
          <a:prstGeom prst="roundRect">
            <a:avLst>
              <a:gd name="adj" fmla="val 5611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14484623" y="2714625"/>
            <a:ext cx="270106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2250" b="1" dirty="0"/>
          </a:p>
        </p:txBody>
      </p:sp>
      <p:sp>
        <p:nvSpPr>
          <p:cNvPr id="33" name="Text 31"/>
          <p:cNvSpPr/>
          <p:nvPr/>
        </p:nvSpPr>
        <p:spPr>
          <a:xfrm>
            <a:off x="14484623" y="3195638"/>
            <a:ext cx="270106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불확실성 보정</a:t>
            </a:r>
            <a:endParaRPr lang="en-US" sz="2025" dirty="0"/>
          </a:p>
        </p:txBody>
      </p:sp>
      <p:sp>
        <p:nvSpPr>
          <p:cNvPr id="34" name="Text 32"/>
          <p:cNvSpPr/>
          <p:nvPr/>
        </p:nvSpPr>
        <p:spPr>
          <a:xfrm>
            <a:off x="14484623" y="3648075"/>
            <a:ext cx="2531715" cy="3752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BYM2 공간 사후모형으로 국소 불확실성 추정, Conformal로 예측구간의 실제 커버리지 검증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4484623" y="7515225"/>
            <a:ext cx="2455515" cy="495300"/>
          </a:xfrm>
          <a:prstGeom prst="roundRect">
            <a:avLst>
              <a:gd name="adj" fmla="val 19231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14637023" y="7629525"/>
            <a:ext cx="22269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C60EF"/>
                </a:solidFill>
                <a:latin typeface="Arial" pitchFamily="34" charset="0"/>
                <a:cs typeface="Arial" pitchFamily="34" charset="-120"/>
              </a:rPr>
              <a:t>모델의 과도한 확신 방지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47750" y="8634413"/>
            <a:ext cx="16192500" cy="795338"/>
          </a:xfrm>
          <a:prstGeom prst="roundRect">
            <a:avLst>
              <a:gd name="adj" fmla="val 19162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185863" y="8882063"/>
            <a:ext cx="1591627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 하나가 아니라 </a:t>
            </a:r>
            <a:r>
              <a:rPr lang="en-US" sz="2025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 일반화 · 변수 안정성 · 불확실성 보정</a:t>
            </a:r>
            <a:r>
              <a:rPr lang="en-US" sz="2025" b="1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까지 5단계로 </a:t>
            </a:r>
            <a:r>
              <a:rPr lang="en-US" sz="2025" b="1" dirty="0" err="1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DBE8FE">
                  <a:alpha val="100000"/>
                </a:srgbClr>
              </a:gs>
              <a:gs pos="55000">
                <a:srgbClr val="DBE8FE">
                  <a:alpha val="0"/>
                </a:srgbClr>
              </a:gs>
            </a:gsLst>
            <a:path path="circle">
              <a:fillToRect l="100000" b="100000"/>
            </a:path>
          </a:gra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1047750" y="762000"/>
            <a:ext cx="39409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537097" y="785813"/>
            <a:ext cx="33323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98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불확실성과 Coverage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1243013"/>
            <a:ext cx="1781175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위험도뿐 아니라 '얼마나 믿을 수 있는지'도 제공합니다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7301046" y="9753600"/>
            <a:ext cx="6440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2128838"/>
            <a:ext cx="8477622" cy="609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95388" y="2815605"/>
            <a:ext cx="8182347" cy="472239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47750" y="8415338"/>
            <a:ext cx="2686124" cy="1109663"/>
          </a:xfrm>
          <a:prstGeom prst="roundRect">
            <a:avLst>
              <a:gd name="adj" fmla="val 12017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7"/>
          <p:cNvSpPr/>
          <p:nvPr/>
        </p:nvSpPr>
        <p:spPr>
          <a:xfrm>
            <a:off x="1185859" y="8605838"/>
            <a:ext cx="24099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명목 커버리지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85859" y="8872538"/>
            <a:ext cx="2409907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850" dirty="0"/>
          </a:p>
        </p:txBody>
      </p:sp>
      <p:sp>
        <p:nvSpPr>
          <p:cNvPr id="12" name="Shape 9"/>
          <p:cNvSpPr/>
          <p:nvPr/>
        </p:nvSpPr>
        <p:spPr>
          <a:xfrm>
            <a:off x="3924374" y="8415338"/>
            <a:ext cx="2686199" cy="1109663"/>
          </a:xfrm>
          <a:prstGeom prst="roundRect">
            <a:avLst>
              <a:gd name="adj" fmla="val 12017"/>
            </a:avLst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/>
          <p:nvPr/>
        </p:nvSpPr>
        <p:spPr>
          <a:xfrm>
            <a:off x="4062479" y="8605838"/>
            <a:ext cx="24099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Conformal 실측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062479" y="8872538"/>
            <a:ext cx="2409989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</a:t>
            </a:r>
            <a:endParaRPr lang="en-US" sz="2850" dirty="0"/>
          </a:p>
        </p:txBody>
      </p:sp>
      <p:sp>
        <p:nvSpPr>
          <p:cNvPr id="15" name="Shape 12"/>
          <p:cNvSpPr/>
          <p:nvPr/>
        </p:nvSpPr>
        <p:spPr>
          <a:xfrm>
            <a:off x="6801073" y="8415338"/>
            <a:ext cx="2724299" cy="1109663"/>
          </a:xfrm>
          <a:prstGeom prst="roundRect">
            <a:avLst>
              <a:gd name="adj" fmla="val 12017"/>
            </a:avLst>
          </a:prstGeom>
          <a:solidFill>
            <a:srgbClr val="FFFFFF"/>
          </a:solidFill>
          <a:ln w="19050">
            <a:solidFill>
              <a:srgbClr val="1C60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3"/>
          <p:cNvSpPr/>
          <p:nvPr/>
        </p:nvSpPr>
        <p:spPr>
          <a:xfrm>
            <a:off x="6958228" y="8624888"/>
            <a:ext cx="24099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실측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958228" y="8891588"/>
            <a:ext cx="2409989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 </a:t>
            </a: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(보수적)</a:t>
            </a:r>
            <a:endParaRPr lang="en-US" sz="2850" dirty="0"/>
          </a:p>
        </p:txBody>
      </p:sp>
      <p:sp>
        <p:nvSpPr>
          <p:cNvPr id="18" name="Text 15"/>
          <p:cNvSpPr/>
          <p:nvPr/>
        </p:nvSpPr>
        <p:spPr>
          <a:xfrm>
            <a:off x="9868272" y="2128838"/>
            <a:ext cx="810909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의사결정 매트릭스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11425327" y="2657475"/>
            <a:ext cx="28102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불확실성 낮음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4396904" y="2657475"/>
            <a:ext cx="28102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불확실성 높음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868272" y="3095625"/>
            <a:ext cx="150495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 높음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1392272" y="3095625"/>
            <a:ext cx="2876327" cy="723900"/>
          </a:xfrm>
          <a:prstGeom prst="roundRect">
            <a:avLst>
              <a:gd name="adj" fmla="val 15789"/>
            </a:avLst>
          </a:prstGeom>
          <a:solidFill>
            <a:srgbClr val="F2F6FE"/>
          </a:solidFill>
          <a:ln w="19050">
            <a:solidFill>
              <a:srgbClr val="1C60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0"/>
          <p:cNvSpPr/>
          <p:nvPr/>
        </p:nvSpPr>
        <p:spPr>
          <a:xfrm>
            <a:off x="11520577" y="3324225"/>
            <a:ext cx="26197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점검·보강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4363849" y="3095625"/>
            <a:ext cx="2876327" cy="723900"/>
          </a:xfrm>
          <a:prstGeom prst="roundRect">
            <a:avLst>
              <a:gd name="adj" fmla="val 15789"/>
            </a:avLst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5" name="Text 22"/>
          <p:cNvSpPr/>
          <p:nvPr/>
        </p:nvSpPr>
        <p:spPr>
          <a:xfrm>
            <a:off x="14492154" y="3324225"/>
            <a:ext cx="26197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확인·추가 관측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868272" y="3914775"/>
            <a:ext cx="150495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 낮음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1392272" y="3914775"/>
            <a:ext cx="2876327" cy="723900"/>
          </a:xfrm>
          <a:prstGeom prst="roundRect">
            <a:avLst>
              <a:gd name="adj" fmla="val 15789"/>
            </a:avLst>
          </a:prstGeom>
          <a:solidFill>
            <a:srgbClr val="F2F6FE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KR" dirty="0"/>
          </a:p>
        </p:txBody>
      </p:sp>
      <p:sp>
        <p:nvSpPr>
          <p:cNvPr id="28" name="Text 25"/>
          <p:cNvSpPr/>
          <p:nvPr/>
        </p:nvSpPr>
        <p:spPr>
          <a:xfrm>
            <a:off x="11520577" y="4143375"/>
            <a:ext cx="26197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후순위 관리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4363849" y="3914775"/>
            <a:ext cx="2876327" cy="723900"/>
          </a:xfrm>
          <a:prstGeom prst="roundRect">
            <a:avLst>
              <a:gd name="adj" fmla="val 15789"/>
            </a:avLst>
          </a:prstGeom>
          <a:solidFill>
            <a:srgbClr val="F2F6FE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7"/>
          <p:cNvSpPr/>
          <p:nvPr/>
        </p:nvSpPr>
        <p:spPr>
          <a:xfrm>
            <a:off x="14492154" y="4143375"/>
            <a:ext cx="26197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868272" y="4886325"/>
            <a:ext cx="810909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</a:t>
            </a:r>
            <a:r>
              <a:rPr lang="en-US" altLang="ko-KR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ko-KR" altLang="en-US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</a:t>
            </a:r>
            <a:r>
              <a:rPr lang="en-US" sz="1800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효과의 안정성, 과잉해석 방지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868272" y="5362575"/>
            <a:ext cx="7593061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</a:t>
            </a:r>
            <a:r>
              <a:rPr lang="en-US" sz="1800" b="1" dirty="0" err="1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구간</a:t>
            </a:r>
            <a:r>
              <a:rPr lang="en-US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ko-KR" altLang="en-US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i="1" dirty="0" err="1">
                <a:solidFill>
                  <a:srgbClr val="3A4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</a:t>
            </a:r>
            <a:r>
              <a:rPr lang="en-US" sz="1800" i="1" dirty="0">
                <a:solidFill>
                  <a:srgbClr val="3A4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̃ = (y+α) / (n+β) </a:t>
            </a:r>
            <a:r>
              <a:rPr lang="en-US" sz="1800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Poisson–Gamma 켤레 사후로 전주별 국소 불확실성 식별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868272" y="6191250"/>
            <a:ext cx="810909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Conformal </a:t>
            </a:r>
            <a:r>
              <a:rPr lang="en-US" altLang="ko-KR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ko-KR" altLang="en-US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예측구간의</a:t>
            </a:r>
            <a:r>
              <a:rPr lang="en-US" sz="1800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경험적 보정 확인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55000">
                <a:srgbClr val="FFFFFF">
                  <a:alpha val="100000"/>
                </a:srgbClr>
              </a:gs>
              <a:gs pos="100000">
                <a:srgbClr val="DBE8FE">
                  <a:alpha val="100000"/>
                </a:srgbClr>
              </a:gs>
            </a:gsLst>
            <a:lin ang="1500000" scaled="0"/>
          </a:gra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1047750" y="762000"/>
            <a:ext cx="39409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537097" y="785813"/>
            <a:ext cx="295555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kern="0" spc="98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위험지도와 점검 후보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1243013"/>
            <a:ext cx="1781175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최종적으로 27,757본의 우선점검 후보를 선정했습니다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7192699" y="9753600"/>
            <a:ext cx="7524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2109788"/>
            <a:ext cx="9509745" cy="7415213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14438" y="3169295"/>
            <a:ext cx="9176370" cy="529612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900395" y="2109788"/>
            <a:ext cx="6339780" cy="1557338"/>
          </a:xfrm>
          <a:prstGeom prst="roundRect">
            <a:avLst>
              <a:gd name="adj" fmla="val 9786"/>
            </a:avLst>
          </a:prstGeom>
          <a:solidFill>
            <a:srgbClr val="F2F6FE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7"/>
          <p:cNvSpPr/>
          <p:nvPr/>
        </p:nvSpPr>
        <p:spPr>
          <a:xfrm>
            <a:off x="10955357" y="2409825"/>
            <a:ext cx="622985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27,757본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10955357" y="3076575"/>
            <a:ext cx="622985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전주의 약 2%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10900395" y="3876675"/>
            <a:ext cx="6339780" cy="2047875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/>
          <p:nvPr/>
        </p:nvSpPr>
        <p:spPr>
          <a:xfrm>
            <a:off x="11200433" y="4138613"/>
            <a:ext cx="742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영서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2000533" y="4148137"/>
            <a:ext cx="3758505" cy="247650"/>
          </a:xfrm>
          <a:prstGeom prst="roundRect">
            <a:avLst>
              <a:gd name="adj" fmla="val 23077"/>
            </a:avLst>
          </a:prstGeom>
          <a:solidFill>
            <a:srgbClr val="55A86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2"/>
          <p:cNvSpPr/>
          <p:nvPr/>
        </p:nvSpPr>
        <p:spPr>
          <a:xfrm>
            <a:off x="15816188" y="4138613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15,712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200433" y="4557713"/>
            <a:ext cx="742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산악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2000533" y="4567238"/>
            <a:ext cx="2123629" cy="247650"/>
          </a:xfrm>
          <a:prstGeom prst="roundRect">
            <a:avLst>
              <a:gd name="adj" fmla="val 23077"/>
            </a:avLst>
          </a:prstGeom>
          <a:solidFill>
            <a:srgbClr val="DD845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5"/>
          <p:cNvSpPr/>
          <p:nvPr/>
        </p:nvSpPr>
        <p:spPr>
          <a:xfrm>
            <a:off x="14181311" y="4557713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5,801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200433" y="4976813"/>
            <a:ext cx="742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영동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2000533" y="4986338"/>
            <a:ext cx="1377479" cy="247650"/>
          </a:xfrm>
          <a:prstGeom prst="roundRect">
            <a:avLst>
              <a:gd name="adj" fmla="val 23077"/>
            </a:avLst>
          </a:prstGeom>
          <a:solidFill>
            <a:srgbClr val="4C72B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1" name="Text 18"/>
          <p:cNvSpPr/>
          <p:nvPr/>
        </p:nvSpPr>
        <p:spPr>
          <a:xfrm>
            <a:off x="13435161" y="4976813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3,827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1200433" y="5395913"/>
            <a:ext cx="742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회랑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2000533" y="5405438"/>
            <a:ext cx="860896" cy="247650"/>
          </a:xfrm>
          <a:prstGeom prst="roundRect">
            <a:avLst>
              <a:gd name="adj" fmla="val 23077"/>
            </a:avLst>
          </a:prstGeom>
          <a:solidFill>
            <a:srgbClr val="C44E5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Text 21"/>
          <p:cNvSpPr/>
          <p:nvPr/>
        </p:nvSpPr>
        <p:spPr>
          <a:xfrm>
            <a:off x="12918579" y="5395913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2,417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0900395" y="6134100"/>
            <a:ext cx="6339780" cy="1100138"/>
          </a:xfrm>
          <a:prstGeom prst="roundRect">
            <a:avLst>
              <a:gd name="adj" fmla="val 12749"/>
            </a:avLst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3"/>
          <p:cNvSpPr/>
          <p:nvPr/>
        </p:nvSpPr>
        <p:spPr>
          <a:xfrm>
            <a:off x="11186145" y="6362700"/>
            <a:ext cx="5958474" cy="776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1875" dirty="0">
                <a:solidFill>
                  <a:srgbClr val="0B1B3F"/>
                </a:solidFill>
                <a:highlight>
                  <a:srgbClr val="DBE8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전역 단일 임계값의 </a:t>
            </a:r>
            <a:r>
              <a:rPr lang="en-US" sz="187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영동 편중을 </a:t>
            </a:r>
            <a:r>
              <a:rPr lang="en-US" sz="1875" b="1" dirty="0" err="1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완화</a:t>
            </a:r>
            <a:r>
              <a:rPr lang="en-US" sz="187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87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875" dirty="0">
                <a:solidFill>
                  <a:srgbClr val="0B1B3F"/>
                </a:solidFill>
                <a:highlight>
                  <a:srgbClr val="DBE8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권역별 발화 앵커 밀도에 비례한 배분으로 영서·산악의 권역 내 고위험 전주까지 포함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DBE8FE">
                  <a:alpha val="100000"/>
                </a:srgbClr>
              </a:gs>
              <a:gs pos="50000">
                <a:srgbClr val="FFFFFF">
                  <a:alpha val="100000"/>
                </a:srgbClr>
              </a:gs>
            </a:gsLst>
            <a:lin ang="13800000" scaled="0"/>
          </a:gra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1047750" y="762000"/>
            <a:ext cx="39409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537097" y="785813"/>
            <a:ext cx="25777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98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변별력과 사례 검증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1243013"/>
            <a:ext cx="1781175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권역 안에서도 고위험 전주를 더 잘 구분했습니다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7231841" y="9753600"/>
            <a:ext cx="8827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2071688"/>
            <a:ext cx="5245075" cy="1562100"/>
          </a:xfrm>
          <a:prstGeom prst="roundRect">
            <a:avLst>
              <a:gd name="adj" fmla="val 9756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333500" y="2300288"/>
            <a:ext cx="482492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권역 안에서 고위험 전주를 구분하는 힘 (AUC)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33500" y="2605088"/>
            <a:ext cx="5140933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0.488 → 0.560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333500" y="3215607"/>
            <a:ext cx="48249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강원 전체 기준 구분력(AUC 0.63)은 그대로 유지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21425" y="2071688"/>
            <a:ext cx="5245075" cy="1562100"/>
          </a:xfrm>
          <a:prstGeom prst="roundRect">
            <a:avLst>
              <a:gd name="adj" fmla="val 9756"/>
            </a:avLst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6807175" y="2452688"/>
            <a:ext cx="51409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2% 발화점 포착 (공간 블록 CV)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07175" y="2757488"/>
            <a:ext cx="5140933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랜덤 대비 ×1.6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11995100" y="2071688"/>
            <a:ext cx="5245150" cy="15621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1C60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2299900" y="2452688"/>
            <a:ext cx="50991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</a:t>
            </a:r>
            <a:r>
              <a:rPr lang="en-US" sz="1800" b="1" dirty="0" err="1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고성</a:t>
            </a: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실제 동측 확산 6.7km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299900" y="2757488"/>
            <a:ext cx="509910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동측 비율 0.99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1047750" y="3881438"/>
            <a:ext cx="8868817" cy="5643563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6"/>
          <p:cNvSpPr/>
          <p:nvPr/>
        </p:nvSpPr>
        <p:spPr>
          <a:xfrm>
            <a:off x="808620" y="9110663"/>
            <a:ext cx="93470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 </a:t>
            </a:r>
            <a:r>
              <a:rPr lang="en-US" sz="1800" dirty="0" err="1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양간지풍 풍하 방향(서→동)과 위험 분포의 정합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0145167" y="3881438"/>
            <a:ext cx="7095083" cy="5643563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18"/>
          <p:cNvSpPr/>
          <p:nvPr/>
        </p:nvSpPr>
        <p:spPr>
          <a:xfrm>
            <a:off x="9994724" y="9110663"/>
            <a:ext cx="73959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 블록 CV </a:t>
            </a:r>
            <a:r>
              <a:rPr lang="en-US" altLang="ko-KR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recall@top-k, 랜덤 기준선 대비 상회</a:t>
            </a:r>
            <a:endParaRPr lang="en-US" sz="18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3556F3F-0EBE-E56E-D069-19607087C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2202" y="4224338"/>
            <a:ext cx="6141012" cy="443261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6CAADC7-6C2C-5879-D0BB-3996E78F8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323" y="4075502"/>
            <a:ext cx="7772400" cy="4822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DBE8FE">
                  <a:alpha val="100000"/>
                </a:srgbClr>
              </a:gs>
              <a:gs pos="60000">
                <a:srgbClr val="DBE8FE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1047750" y="762000"/>
            <a:ext cx="39409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537097" y="785814"/>
            <a:ext cx="22466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kern="0" spc="98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활용방안과 결론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1243013"/>
            <a:ext cx="1781175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 위험지도를 일별 점검체계로 확장할 수 있습니다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7203266" y="9753600"/>
            <a:ext cx="7418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3035201"/>
            <a:ext cx="8020496" cy="4021336"/>
          </a:xfrm>
          <a:prstGeom prst="roundRect">
            <a:avLst>
              <a:gd name="adj" fmla="val 4264"/>
            </a:avLst>
          </a:prstGeom>
          <a:solidFill>
            <a:srgbClr val="FFFFFF"/>
          </a:solidFill>
          <a:ln w="14288">
            <a:solidFill>
              <a:srgbClr val="C9DB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1423988" y="3373338"/>
            <a:ext cx="3374975" cy="1020961"/>
          </a:xfrm>
          <a:prstGeom prst="roundRect">
            <a:avLst>
              <a:gd name="adj" fmla="val 11195"/>
            </a:avLst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544813" y="3563838"/>
            <a:ext cx="31333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0B1B3F"/>
                </a:solidFill>
                <a:highlight>
                  <a:srgbClr val="DBE8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시즌 </a:t>
            </a:r>
            <a:r>
              <a:rPr lang="en-US" sz="1800" b="1" dirty="0" err="1">
                <a:solidFill>
                  <a:srgbClr val="0B1B3F"/>
                </a:solidFill>
                <a:highlight>
                  <a:srgbClr val="DBE8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정적</a:t>
            </a:r>
            <a:r>
              <a:rPr lang="en-US" sz="1800" b="1" dirty="0">
                <a:solidFill>
                  <a:srgbClr val="0B1B3F"/>
                </a:solidFill>
                <a:highlight>
                  <a:srgbClr val="DBE8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0B1B3F"/>
                </a:solidFill>
                <a:highlight>
                  <a:srgbClr val="DBE8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위험도</a:t>
            </a:r>
            <a:endParaRPr lang="en-US" sz="1800" b="1" dirty="0">
              <a:solidFill>
                <a:srgbClr val="0B1B3F"/>
              </a:solidFill>
              <a:highlight>
                <a:srgbClr val="DBE8FE"/>
              </a:highlight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0B1B3F"/>
                </a:solidFill>
                <a:highlight>
                  <a:srgbClr val="DBE8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I×S×W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51363" y="3693319"/>
            <a:ext cx="2894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5317034" y="3373338"/>
            <a:ext cx="3374975" cy="1020961"/>
          </a:xfrm>
          <a:prstGeom prst="roundRect">
            <a:avLst>
              <a:gd name="adj" fmla="val 11195"/>
            </a:avLst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5437859" y="3563838"/>
            <a:ext cx="31333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2182"/>
              </a:lnSpc>
              <a:buNone/>
            </a:pPr>
            <a:r>
              <a:rPr lang="en-US" sz="1800" b="1" dirty="0" err="1">
                <a:solidFill>
                  <a:srgbClr val="0B1B3F"/>
                </a:solidFill>
                <a:highlight>
                  <a:srgbClr val="DBE8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일별</a:t>
            </a:r>
            <a:r>
              <a:rPr lang="en-US" sz="1800" b="1" dirty="0">
                <a:solidFill>
                  <a:srgbClr val="0B1B3F"/>
                </a:solidFill>
                <a:highlight>
                  <a:srgbClr val="DBE8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0B1B3F"/>
                </a:solidFill>
                <a:highlight>
                  <a:srgbClr val="DBE8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예보</a:t>
            </a:r>
            <a:endParaRPr lang="en-US" sz="1800" b="1" dirty="0">
              <a:solidFill>
                <a:srgbClr val="0B1B3F"/>
              </a:solidFill>
              <a:highlight>
                <a:srgbClr val="DBE8FE"/>
              </a:highlight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0B1B3F"/>
                </a:solidFill>
                <a:highlight>
                  <a:srgbClr val="DBE8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FFMC · ISI · 양간지풍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43711" y="4489549"/>
            <a:ext cx="28575" cy="247650"/>
          </a:xfrm>
          <a:prstGeom prst="roundRect">
            <a:avLst>
              <a:gd name="adj" fmla="val 50000"/>
            </a:avLst>
          </a:prstGeom>
          <a:solidFill>
            <a:srgbClr val="1C60E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1423988" y="4832449"/>
            <a:ext cx="7268021" cy="747713"/>
          </a:xfrm>
          <a:prstGeom prst="roundRect">
            <a:avLst>
              <a:gd name="adj" fmla="val 15287"/>
            </a:avLst>
          </a:prstGeom>
          <a:solidFill>
            <a:srgbClr val="DBE8FE"/>
          </a:solidFill>
          <a:ln w="14288">
            <a:solidFill>
              <a:srgbClr val="1C60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538805" y="5056287"/>
            <a:ext cx="703838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당일 우선점검 전주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5043711" y="5675412"/>
            <a:ext cx="28575" cy="247650"/>
          </a:xfrm>
          <a:prstGeom prst="roundRect">
            <a:avLst>
              <a:gd name="adj" fmla="val 50000"/>
            </a:avLst>
          </a:prstGeom>
          <a:solidFill>
            <a:srgbClr val="1C60E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1423988" y="6018312"/>
            <a:ext cx="7268021" cy="700088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9050">
            <a:solidFill>
              <a:srgbClr val="1C60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524517" y="6227862"/>
            <a:ext cx="706696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확인 → 추가 관측 → 모델 갱신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047750" y="7247037"/>
            <a:ext cx="3934048" cy="1409700"/>
          </a:xfrm>
          <a:prstGeom prst="roundRect">
            <a:avLst>
              <a:gd name="adj" fmla="val 9459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1276350" y="7437537"/>
            <a:ext cx="359487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30909"/>
              </a:lnSpc>
              <a:buNone/>
            </a:pPr>
            <a:r>
              <a:rPr lang="en-US" sz="1800" b="1" dirty="0" err="1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영동·회랑</a:t>
            </a:r>
            <a:r>
              <a:rPr lang="en-US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ctr">
              <a:lnSpc>
                <a:spcPct val="130909"/>
              </a:lnSpc>
              <a:buNone/>
            </a:pPr>
            <a:r>
              <a:rPr lang="en-US" sz="1800" dirty="0" err="1">
                <a:solidFill>
                  <a:srgbClr val="3A4A6B"/>
                </a:solidFill>
                <a:highlight>
                  <a:srgbClr val="F2F6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양간지풍</a:t>
            </a:r>
            <a:r>
              <a:rPr lang="en-US" sz="1800" dirty="0">
                <a:solidFill>
                  <a:srgbClr val="3A4A6B"/>
                </a:solidFill>
                <a:highlight>
                  <a:srgbClr val="F2F6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경보일 집중 감시 · 회랑 송전선 점검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134198" y="7247037"/>
            <a:ext cx="3934048" cy="1409700"/>
          </a:xfrm>
          <a:prstGeom prst="roundRect">
            <a:avLst>
              <a:gd name="adj" fmla="val 9459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5362798" y="7437537"/>
            <a:ext cx="359487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30909"/>
              </a:lnSpc>
              <a:buNone/>
            </a:pPr>
            <a:r>
              <a:rPr lang="en-US" sz="1800" b="1" dirty="0" err="1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영서·산악</a:t>
            </a:r>
            <a:r>
              <a:rPr lang="en-US" sz="180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ctr">
              <a:lnSpc>
                <a:spcPct val="130909"/>
              </a:lnSpc>
              <a:buNone/>
            </a:pPr>
            <a:r>
              <a:rPr lang="en-US" sz="1800" dirty="0" err="1">
                <a:solidFill>
                  <a:srgbClr val="3A4A6B"/>
                </a:solidFill>
                <a:highlight>
                  <a:srgbClr val="F2F6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소각철</a:t>
            </a:r>
            <a:r>
              <a:rPr lang="en-US" sz="1800" dirty="0">
                <a:solidFill>
                  <a:srgbClr val="3A4A6B"/>
                </a:solidFill>
                <a:highlight>
                  <a:srgbClr val="F2F6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순찰 · 도로 인접 연료 취약구간 관리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601646" y="3585270"/>
            <a:ext cx="571500" cy="571500"/>
          </a:xfrm>
          <a:prstGeom prst="roundRect">
            <a:avLst>
              <a:gd name="adj" fmla="val 20000"/>
            </a:avLst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9563546" y="358527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0401746" y="3646606"/>
            <a:ext cx="578944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강원도의 상이한 발화 메커니즘을 4개 체제로 반영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9601646" y="4385370"/>
            <a:ext cx="571500" cy="571500"/>
          </a:xfrm>
          <a:prstGeom prst="roundRect">
            <a:avLst>
              <a:gd name="adj" fmla="val 20000"/>
            </a:avLst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9563546" y="438537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401746" y="4446706"/>
            <a:ext cx="597004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1,387,831본 전주의 상대위험과 불확실성을 함께 산출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9601646" y="5185470"/>
            <a:ext cx="571500" cy="571500"/>
          </a:xfrm>
          <a:prstGeom prst="roundRect">
            <a:avLst>
              <a:gd name="adj" fmla="val 20000"/>
            </a:avLst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9563546" y="518547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0401746" y="5246806"/>
            <a:ext cx="558090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27,757본의 점검 후보와 권역별 운영전략으로 전환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9601646" y="5985570"/>
            <a:ext cx="7638604" cy="14288"/>
          </a:xfrm>
          <a:prstGeom prst="rect">
            <a:avLst/>
          </a:prstGeom>
          <a:solidFill>
            <a:srgbClr val="DBE8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9601646" y="6171307"/>
            <a:ext cx="78677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위험도는 절대 발생확률이 아닌 </a:t>
            </a:r>
            <a:r>
              <a:rPr lang="en-US" sz="1800" b="1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상대적 점검 우선순위</a:t>
            </a:r>
            <a:r>
              <a:rPr lang="en-US" sz="1800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해석합니다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601646" y="6742807"/>
            <a:ext cx="7638604" cy="1363861"/>
          </a:xfrm>
          <a:prstGeom prst="roundRect">
            <a:avLst>
              <a:gd name="adj" fmla="val 11174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9925496" y="7028557"/>
            <a:ext cx="7200631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8667"/>
              </a:lnSpc>
              <a:buNone/>
            </a:pPr>
            <a:r>
              <a:rPr lang="en-US" sz="1950" b="1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"산불이 발생할 위치를 단정하는 모델이 아니라, </a:t>
            </a:r>
            <a:r>
              <a:rPr lang="en-US" sz="1950" b="1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제한된 자원으로 어디를 먼저 확인해야 하는지 </a:t>
            </a:r>
            <a:r>
              <a:rPr lang="en-US" sz="1950" b="1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제시하는 의사결정 지원모형입니다."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DBE8FE">
                  <a:alpha val="100000"/>
                </a:srgbClr>
              </a:gs>
              <a:gs pos="70000">
                <a:srgbClr val="DBE8F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8896350" y="4255294"/>
            <a:ext cx="495300" cy="57150"/>
          </a:xfrm>
          <a:prstGeom prst="roundRect">
            <a:avLst>
              <a:gd name="adj" fmla="val 50000"/>
            </a:avLst>
          </a:prstGeom>
          <a:solidFill>
            <a:srgbClr val="1C60E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660928" y="4598194"/>
            <a:ext cx="3516824" cy="87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400" dirty="0">
                <a:solidFill>
                  <a:srgbClr val="0B1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197239" y="9753599"/>
            <a:ext cx="917340" cy="35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86871" y="5717381"/>
            <a:ext cx="76056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4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코드·재현성 — </a:t>
            </a:r>
            <a:r>
              <a:rPr lang="en-US" sz="2100" u="sng" dirty="0">
                <a:solidFill>
                  <a:srgbClr val="1C60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github.com/zongseung/Optimal-Site-Selection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1675</Words>
  <Application>Microsoft Macintosh PowerPoint</Application>
  <PresentationFormat>Custom</PresentationFormat>
  <Paragraphs>289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이종승</cp:lastModifiedBy>
  <cp:revision>18</cp:revision>
  <dcterms:created xsi:type="dcterms:W3CDTF">2026-07-20T07:52:17Z</dcterms:created>
  <dcterms:modified xsi:type="dcterms:W3CDTF">2026-07-20T08:23:51Z</dcterms:modified>
</cp:coreProperties>
</file>